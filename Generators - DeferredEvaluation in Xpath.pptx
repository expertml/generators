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96" r:id="rId2"/>
  </p:sldMasterIdLst>
  <p:notesMasterIdLst>
    <p:notesMasterId r:id="rId37"/>
  </p:notesMasterIdLst>
  <p:handoutMasterIdLst>
    <p:handoutMasterId r:id="rId38"/>
  </p:handoutMasterIdLst>
  <p:sldIdLst>
    <p:sldId id="258" r:id="rId3"/>
    <p:sldId id="310" r:id="rId4"/>
    <p:sldId id="311" r:id="rId5"/>
    <p:sldId id="312" r:id="rId6"/>
    <p:sldId id="313" r:id="rId7"/>
    <p:sldId id="314" r:id="rId8"/>
    <p:sldId id="315" r:id="rId9"/>
    <p:sldId id="316" r:id="rId10"/>
    <p:sldId id="317" r:id="rId11"/>
    <p:sldId id="318" r:id="rId12"/>
    <p:sldId id="319" r:id="rId13"/>
    <p:sldId id="320" r:id="rId14"/>
    <p:sldId id="321" r:id="rId15"/>
    <p:sldId id="322" r:id="rId16"/>
    <p:sldId id="323" r:id="rId17"/>
    <p:sldId id="324" r:id="rId18"/>
    <p:sldId id="325" r:id="rId19"/>
    <p:sldId id="326" r:id="rId20"/>
    <p:sldId id="327" r:id="rId21"/>
    <p:sldId id="328" r:id="rId22"/>
    <p:sldId id="330" r:id="rId23"/>
    <p:sldId id="332" r:id="rId24"/>
    <p:sldId id="333" r:id="rId25"/>
    <p:sldId id="334" r:id="rId26"/>
    <p:sldId id="335" r:id="rId27"/>
    <p:sldId id="336" r:id="rId28"/>
    <p:sldId id="338" r:id="rId29"/>
    <p:sldId id="339" r:id="rId30"/>
    <p:sldId id="340" r:id="rId31"/>
    <p:sldId id="341" r:id="rId32"/>
    <p:sldId id="342" r:id="rId33"/>
    <p:sldId id="343" r:id="rId34"/>
    <p:sldId id="344" r:id="rId35"/>
    <p:sldId id="345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DB96D56-8D88-4478-864D-47A9DA918166}">
          <p14:sldIdLst>
            <p14:sldId id="258"/>
          </p14:sldIdLst>
        </p14:section>
        <p14:section name="Untitled Section" id="{27DC2CF2-4334-4ED6-A11C-5E225DB8BDC2}">
          <p14:sldIdLst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30"/>
            <p14:sldId id="332"/>
            <p14:sldId id="333"/>
            <p14:sldId id="334"/>
            <p14:sldId id="335"/>
            <p14:sldId id="336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11BF"/>
    <a:srgbClr val="FFAA75"/>
    <a:srgbClr val="F0F5F6"/>
    <a:srgbClr val="F2EFE6"/>
    <a:srgbClr val="E3E74F"/>
    <a:srgbClr val="CEEE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42741" autoAdjust="0"/>
  </p:normalViewPr>
  <p:slideViewPr>
    <p:cSldViewPr snapToGrid="0" showGuides="1">
      <p:cViewPr varScale="1">
        <p:scale>
          <a:sx n="49" d="100"/>
          <a:sy n="49" d="100"/>
        </p:scale>
        <p:origin x="2952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8544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79" d="100"/>
          <a:sy n="79" d="100"/>
        </p:scale>
        <p:origin x="2496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handoutMaster" Target="handoutMasters/handoutMaster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06F081-8781-4431-8FD4-2CF608CD7C47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6E42EF-B2A2-4428-A098-E6934E284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6190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6CA47C-B7FD-4BE9-B0E6-81BA758D95F2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3716F0-385D-4F6E-BE54-A09D410D2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426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716F0-385D-4F6E-BE54-A09D410D24C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8466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716F0-385D-4F6E-BE54-A09D410D24C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7905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716F0-385D-4F6E-BE54-A09D410D24C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7145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716F0-385D-4F6E-BE54-A09D410D24C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5092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 smtClean="0"/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716F0-385D-4F6E-BE54-A09D410D24C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3793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716F0-385D-4F6E-BE54-A09D410D24C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2114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716F0-385D-4F6E-BE54-A09D410D24C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0325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716F0-385D-4F6E-BE54-A09D410D24C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6924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716F0-385D-4F6E-BE54-A09D410D24C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3865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i="0" baseline="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716F0-385D-4F6E-BE54-A09D410D24C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5397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i="0" baseline="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i="0" baseline="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716F0-385D-4F6E-BE54-A09D410D24C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1417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716F0-385D-4F6E-BE54-A09D410D24C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8186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.</a:t>
            </a:r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716F0-385D-4F6E-BE54-A09D410D24C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3128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716F0-385D-4F6E-BE54-A09D410D24C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3395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716F0-385D-4F6E-BE54-A09D410D24C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4088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716F0-385D-4F6E-BE54-A09D410D24C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6272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716F0-385D-4F6E-BE54-A09D410D24C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4641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 smtClean="0"/>
          </a:p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716F0-385D-4F6E-BE54-A09D410D24C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1088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716F0-385D-4F6E-BE54-A09D410D24C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6787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716F0-385D-4F6E-BE54-A09D410D24C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9510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endParaRPr lang="en-US" baseline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716F0-385D-4F6E-BE54-A09D410D24C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6172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 </a:t>
            </a:r>
            <a:endParaRPr lang="en-US" b="1" i="1" baseline="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 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716F0-385D-4F6E-BE54-A09D410D24C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9796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716F0-385D-4F6E-BE54-A09D410D24C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1436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716F0-385D-4F6E-BE54-A09D410D24C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8571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716F0-385D-4F6E-BE54-A09D410D24C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0744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716F0-385D-4F6E-BE54-A09D410D24C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3069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716F0-385D-4F6E-BE54-A09D410D24C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3557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716F0-385D-4F6E-BE54-A09D410D24C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6130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716F0-385D-4F6E-BE54-A09D410D24C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56154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716F0-385D-4F6E-BE54-A09D410D24C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79604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716F0-385D-4F6E-BE54-A09D410D24C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863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3024136-D290-48F3-A182-4C46BEB5146B}" type="datetime1">
              <a:rPr lang="en-US" smtClean="0"/>
              <a:t>8/6/2026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4343400"/>
            <a:ext cx="10363200" cy="1975104"/>
          </a:xfrm>
        </p:spPr>
        <p:txBody>
          <a:bodyPr/>
          <a:lstStyle>
            <a:lvl1pPr marR="9144" algn="l">
              <a:defRPr sz="4000" b="1" cap="all" spc="0" baseline="0">
                <a:solidFill>
                  <a:schemeClr val="tx2"/>
                </a:solidFill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2834640"/>
            <a:ext cx="103632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3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667474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E2A9F4F-03AD-4497-A65D-076601BD41D2}" type="datetime1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787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536" y="1351672"/>
            <a:ext cx="7624064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DFBF3AC-A781-43AA-8BD5-B12F49168B94}" type="datetime1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536" y="512064"/>
            <a:ext cx="10875264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796061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12064"/>
            <a:ext cx="10972800" cy="9144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9125" y="17705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7125" y="17705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5256A41-C91B-43FF-9881-F5DA9878418F}" type="datetime1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503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3099" y="512064"/>
            <a:ext cx="103632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09750"/>
            <a:ext cx="5386917" cy="639762"/>
          </a:xfrm>
        </p:spPr>
        <p:txBody>
          <a:bodyPr anchor="ctr"/>
          <a:lstStyle>
            <a:lvl1pPr marL="73152" indent="0" algn="l">
              <a:buNone/>
              <a:defRPr sz="2400" b="0">
                <a:solidFill>
                  <a:schemeClr val="accent3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809750"/>
            <a:ext cx="5389033" cy="639762"/>
          </a:xfrm>
        </p:spPr>
        <p:txBody>
          <a:bodyPr anchor="ctr"/>
          <a:lstStyle>
            <a:lvl1pPr marL="73152" indent="0">
              <a:buNone/>
              <a:defRPr sz="2400" b="0">
                <a:solidFill>
                  <a:schemeClr val="accent3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459037"/>
            <a:ext cx="5386917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459037"/>
            <a:ext cx="5389033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FD7AA76-41EE-4C13-950E-E611B8B8FC52}" type="datetime1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466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512064"/>
            <a:ext cx="103632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9407A26-E7BC-4498-97E4-87AF12377CA9}" type="datetime1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711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3EA4171-1117-4486-993C-35A7470D8847}" type="datetime1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93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109728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435100"/>
            <a:ext cx="33528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0" y="1435100"/>
            <a:ext cx="73152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72A4CB8-1563-4663-81DB-74EB416C19BE}" type="datetime1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287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490709" y="0"/>
            <a:ext cx="1170432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sz="1800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484260" y="1885028"/>
            <a:ext cx="11710163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 bwMode="grayWhite">
          <a:xfrm>
            <a:off x="1219200" y="441252"/>
            <a:ext cx="9144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90709" y="1893781"/>
            <a:ext cx="1170432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1219200" y="1150144"/>
            <a:ext cx="9144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636000" y="55499"/>
            <a:ext cx="2844800" cy="365125"/>
          </a:xfrm>
        </p:spPr>
        <p:txBody>
          <a:bodyPr/>
          <a:lstStyle>
            <a:extLst/>
          </a:lstStyle>
          <a:p>
            <a:fld id="{0C6724CE-2468-448B-87C1-A92EDD78369B}" type="datetime1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19200" y="55499"/>
            <a:ext cx="7416800" cy="365125"/>
          </a:xfrm>
        </p:spPr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480800" y="55499"/>
            <a:ext cx="609600" cy="365125"/>
          </a:xfrm>
        </p:spPr>
        <p:txBody>
          <a:bodyPr/>
          <a:lstStyle>
            <a:extLst/>
          </a:lstStyle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924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CC7D44C-38B1-4D0F-9006-D5774F331095}" type="datetime1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444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641600" cy="5851525"/>
          </a:xfrm>
        </p:spPr>
        <p:txBody>
          <a:bodyPr vert="eaVert"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274640"/>
            <a:ext cx="78232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98D518A-FD4F-4358-B95B-9DB5A17160FB}" type="datetime1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569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inv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1219200" y="512064"/>
            <a:ext cx="10363200" cy="914400"/>
          </a:xfrm>
          <a:prstGeom prst="rect">
            <a:avLst/>
          </a:prstGeom>
        </p:spPr>
        <p:txBody>
          <a:bodyPr vert="horz" anchor="t">
            <a:no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1219200" y="1783560"/>
            <a:ext cx="10363200" cy="457200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636000" y="6416676"/>
            <a:ext cx="28448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4CD11720-76E7-46E6-B0AA-057287C42052}" type="datetime1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19200" y="6416676"/>
            <a:ext cx="74168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1480800" y="6416676"/>
            <a:ext cx="609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0654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7200" dirty="0" smtClean="0"/>
              <a:t>Generators</a:t>
            </a:r>
            <a:r>
              <a:rPr lang="en-US" sz="5800" dirty="0"/>
              <a:t>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5200" b="1" dirty="0" smtClean="0">
                <a:solidFill>
                  <a:schemeClr val="tx2"/>
                </a:solidFill>
              </a:rPr>
              <a:t>Deferred Evaluation</a:t>
            </a:r>
            <a:r>
              <a:rPr lang="en-US" sz="5200" b="1" dirty="0" smtClean="0"/>
              <a:t> </a:t>
            </a:r>
            <a:r>
              <a:rPr lang="en-US" sz="4000" dirty="0" smtClean="0">
                <a:solidFill>
                  <a:schemeClr val="tx2"/>
                </a:solidFill>
              </a:rPr>
              <a:t>in</a:t>
            </a:r>
            <a:r>
              <a:rPr lang="en-US" sz="4000" dirty="0"/>
              <a:t> </a:t>
            </a:r>
            <a:r>
              <a:rPr lang="en-US" sz="4000" dirty="0" smtClean="0"/>
              <a:t>XPath</a:t>
            </a:r>
            <a:endParaRPr lang="en-US" sz="400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	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948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3372" y="336724"/>
            <a:ext cx="10363200" cy="914400"/>
          </a:xfrm>
        </p:spPr>
        <p:txBody>
          <a:bodyPr/>
          <a:lstStyle/>
          <a:p>
            <a:r>
              <a:rPr lang="en-US" b="1" dirty="0" smtClean="0"/>
              <a:t>The Problem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3372" y="1251123"/>
            <a:ext cx="10363200" cy="4721413"/>
          </a:xfrm>
        </p:spPr>
        <p:txBody>
          <a:bodyPr/>
          <a:lstStyle/>
          <a:p>
            <a:pPr marL="68580" indent="0">
              <a:buNone/>
            </a:pPr>
            <a:r>
              <a:rPr lang="en-US" dirty="0" smtClean="0">
                <a:solidFill>
                  <a:srgbClr val="FFFF00"/>
                </a:solidFill>
              </a:rPr>
              <a:t>[ </a:t>
            </a:r>
            <a:r>
              <a:rPr lang="en-US" dirty="0" smtClean="0">
                <a:solidFill>
                  <a:schemeClr val="tx2"/>
                </a:solidFill>
              </a:rPr>
              <a:t>member</a:t>
            </a:r>
            <a:r>
              <a:rPr lang="en-US" baseline="-25000" dirty="0" smtClean="0">
                <a:solidFill>
                  <a:schemeClr val="tx2"/>
                </a:solidFill>
              </a:rPr>
              <a:t>1</a:t>
            </a:r>
            <a:r>
              <a:rPr lang="en-US" dirty="0" smtClean="0">
                <a:solidFill>
                  <a:srgbClr val="FFFF00"/>
                </a:solidFill>
              </a:rPr>
              <a:t>, </a:t>
            </a:r>
            <a:r>
              <a:rPr lang="en-US" dirty="0" smtClean="0">
                <a:solidFill>
                  <a:schemeClr val="tx2"/>
                </a:solidFill>
              </a:rPr>
              <a:t>member</a:t>
            </a:r>
            <a:r>
              <a:rPr lang="en-US" baseline="-25000" dirty="0" smtClean="0">
                <a:solidFill>
                  <a:schemeClr val="tx2"/>
                </a:solidFill>
              </a:rPr>
              <a:t>2</a:t>
            </a:r>
            <a:r>
              <a:rPr lang="en-US" dirty="0" smtClean="0">
                <a:solidFill>
                  <a:srgbClr val="FFFF00"/>
                </a:solidFill>
              </a:rPr>
              <a:t>, </a:t>
            </a:r>
            <a:r>
              <a:rPr lang="en-US" dirty="0" smtClean="0">
                <a:solidFill>
                  <a:schemeClr val="tx2"/>
                </a:solidFill>
              </a:rPr>
              <a:t>member</a:t>
            </a:r>
            <a:r>
              <a:rPr lang="en-US" baseline="-25000" dirty="0" smtClean="0">
                <a:solidFill>
                  <a:schemeClr val="tx2"/>
                </a:solidFill>
              </a:rPr>
              <a:t>3</a:t>
            </a:r>
            <a:r>
              <a:rPr lang="en-US" dirty="0" smtClean="0">
                <a:solidFill>
                  <a:srgbClr val="FFFF00"/>
                </a:solidFill>
              </a:rPr>
              <a:t>, …, </a:t>
            </a:r>
            <a:r>
              <a:rPr lang="en-US" dirty="0" smtClean="0">
                <a:solidFill>
                  <a:schemeClr val="tx2"/>
                </a:solidFill>
              </a:rPr>
              <a:t>member</a:t>
            </a:r>
            <a:r>
              <a:rPr lang="en-US" baseline="-25000" dirty="0" smtClean="0">
                <a:solidFill>
                  <a:schemeClr val="accent5">
                    <a:lumMod val="75000"/>
                  </a:schemeClr>
                </a:solidFill>
              </a:rPr>
              <a:t>1000000</a:t>
            </a:r>
            <a:r>
              <a:rPr lang="en-US" dirty="0" smtClean="0">
                <a:solidFill>
                  <a:srgbClr val="FFFF00"/>
                </a:solidFill>
              </a:rPr>
              <a:t>, …, ]</a:t>
            </a:r>
            <a:br>
              <a:rPr lang="en-US" dirty="0" smtClean="0">
                <a:solidFill>
                  <a:srgbClr val="FFFF00"/>
                </a:solidFill>
              </a:rPr>
            </a:br>
            <a:endParaRPr lang="en-US" dirty="0" smtClean="0">
              <a:solidFill>
                <a:srgbClr val="FFFF00"/>
              </a:solidFill>
            </a:endParaRPr>
          </a:p>
          <a:p>
            <a:pPr marL="68580" indent="0">
              <a:buNone/>
            </a:pPr>
            <a:r>
              <a:rPr lang="en-US" dirty="0" smtClean="0">
                <a:solidFill>
                  <a:schemeClr val="tx2"/>
                </a:solidFill>
              </a:rPr>
              <a:t>Astronomical data: 100 – 400 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Billion</a:t>
            </a:r>
            <a:r>
              <a:rPr lang="en-US" dirty="0" smtClean="0">
                <a:solidFill>
                  <a:schemeClr val="tx2"/>
                </a:solidFill>
              </a:rPr>
              <a:t> stars</a:t>
            </a:r>
          </a:p>
          <a:p>
            <a:pPr marL="68580" indent="0">
              <a:buNone/>
            </a:pPr>
            <a:r>
              <a:rPr lang="en-US" dirty="0" smtClean="0">
                <a:solidFill>
                  <a:srgbClr val="FFFF00"/>
                </a:solidFill>
              </a:rPr>
              <a:t>(</a:t>
            </a:r>
            <a:r>
              <a:rPr lang="en-US" dirty="0" smtClean="0">
                <a:solidFill>
                  <a:schemeClr val="tx2"/>
                </a:solidFill>
              </a:rPr>
              <a:t>1 to $N</a:t>
            </a:r>
            <a:r>
              <a:rPr lang="en-US" dirty="0" smtClean="0">
                <a:solidFill>
                  <a:srgbClr val="FFFF00"/>
                </a:solidFill>
              </a:rPr>
              <a:t>)</a:t>
            </a:r>
            <a:r>
              <a:rPr lang="en-US" dirty="0" smtClean="0">
                <a:solidFill>
                  <a:schemeClr val="tx2"/>
                </a:solidFill>
              </a:rPr>
              <a:t>, $N &gt; P</a:t>
            </a:r>
            <a:r>
              <a:rPr lang="en-US" baseline="-25000" dirty="0" smtClean="0">
                <a:solidFill>
                  <a:schemeClr val="accent5">
                    <a:lumMod val="75000"/>
                  </a:schemeClr>
                </a:solidFill>
              </a:rPr>
              <a:t>1000000</a:t>
            </a:r>
            <a:br>
              <a:rPr lang="en-US" baseline="-25000" dirty="0" smtClean="0">
                <a:solidFill>
                  <a:schemeClr val="accent5">
                    <a:lumMod val="75000"/>
                  </a:schemeClr>
                </a:solidFill>
              </a:rPr>
            </a:br>
            <a:endParaRPr lang="en-US" baseline="-25000" dirty="0" smtClean="0">
              <a:solidFill>
                <a:schemeClr val="accent5">
                  <a:lumMod val="75000"/>
                </a:schemeClr>
              </a:solidFill>
            </a:endParaRPr>
          </a:p>
          <a:p>
            <a:pPr marL="68580" indent="0">
              <a:buNone/>
            </a:pPr>
            <a:r>
              <a:rPr lang="en-US" b="1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Issues</a:t>
            </a:r>
            <a:r>
              <a:rPr lang="en-US" dirty="0" smtClean="0">
                <a:solidFill>
                  <a:schemeClr val="tx2"/>
                </a:solidFill>
              </a:rPr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>
                <a:solidFill>
                  <a:schemeClr val="tx2"/>
                </a:solidFill>
              </a:rPr>
              <a:t>How much Memory ?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>
                <a:solidFill>
                  <a:schemeClr val="tx2"/>
                </a:solidFill>
              </a:rPr>
              <a:t>Exit the traversal early when processing done?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>
                <a:solidFill>
                  <a:schemeClr val="tx2"/>
                </a:solidFill>
              </a:rPr>
              <a:t>If infinite members, can we specify/use a shortcut?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1685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</a:t>
            </a:r>
            <a:r>
              <a:rPr lang="en-US" b="1" dirty="0" smtClean="0"/>
              <a:t>Problem - 2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Not addressed by the XPath standard</a:t>
            </a:r>
          </a:p>
          <a:p>
            <a:r>
              <a:rPr lang="en-US" dirty="0" smtClean="0"/>
              <a:t>Limited, if any solutions</a:t>
            </a:r>
          </a:p>
          <a:p>
            <a:pPr lvl="1"/>
            <a:r>
              <a:rPr lang="en-US" dirty="0" smtClean="0"/>
              <a:t>Vendor-dependent, not portable, vendor lock-in…</a:t>
            </a:r>
          </a:p>
          <a:p>
            <a:pPr lvl="1"/>
            <a:r>
              <a:rPr lang="en-US" dirty="0" smtClean="0"/>
              <a:t>Incomplete</a:t>
            </a:r>
          </a:p>
          <a:p>
            <a:pPr marL="125730" indent="0">
              <a:buNone/>
            </a:pPr>
            <a:endParaRPr lang="en-US" dirty="0"/>
          </a:p>
          <a:p>
            <a:pPr marL="125730" indent="0">
              <a:buNone/>
            </a:pPr>
            <a:endParaRPr lang="en-US" dirty="0" smtClean="0"/>
          </a:p>
        </p:txBody>
      </p:sp>
      <p:sp>
        <p:nvSpPr>
          <p:cNvPr id="4" name="Right Arrow 3"/>
          <p:cNvSpPr/>
          <p:nvPr/>
        </p:nvSpPr>
        <p:spPr>
          <a:xfrm>
            <a:off x="1219200" y="3734646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219200" y="4077785"/>
            <a:ext cx="9777664" cy="173635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3000" b="1" dirty="0" smtClean="0">
                <a:latin typeface="+mn-lt"/>
              </a:rPr>
              <a:t>Need</a:t>
            </a:r>
            <a:r>
              <a:rPr lang="en-US" sz="3200" b="1" dirty="0" smtClean="0"/>
              <a:t> a solution: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000" b="1" dirty="0" smtClean="0">
                <a:latin typeface="+mn-lt"/>
              </a:rPr>
              <a:t>Implementation-independent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000" b="1" dirty="0" smtClean="0">
                <a:latin typeface="+mn-lt"/>
              </a:rPr>
              <a:t>Puts the XPath programmer in full control</a:t>
            </a:r>
            <a:endParaRPr lang="en-US" sz="3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90049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8580" indent="0">
              <a:buNone/>
            </a:pPr>
            <a:r>
              <a:rPr lang="en-US" dirty="0" smtClean="0"/>
              <a:t>Concept of </a:t>
            </a:r>
            <a:r>
              <a:rPr lang="en-US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Generators </a:t>
            </a:r>
            <a:r>
              <a:rPr lang="en-US" dirty="0" smtClean="0"/>
              <a:t>(per </a:t>
            </a:r>
            <a:r>
              <a:rPr lang="en-US" i="1" dirty="0" smtClean="0"/>
              <a:t>Wikipedia</a:t>
            </a:r>
            <a:r>
              <a:rPr lang="en-US" dirty="0" smtClean="0"/>
              <a:t>) :</a:t>
            </a:r>
          </a:p>
          <a:p>
            <a:r>
              <a:rPr lang="en-US" dirty="0" smtClean="0"/>
              <a:t>Similar to </a:t>
            </a:r>
            <a:r>
              <a:rPr lang="en-US" i="1" dirty="0" smtClean="0">
                <a:solidFill>
                  <a:srgbClr val="FFFF00"/>
                </a:solidFill>
                <a:latin typeface="Consolas" panose="020B0609020204030204" pitchFamily="49" charset="0"/>
              </a:rPr>
              <a:t>function(…) as </a:t>
            </a:r>
            <a:r>
              <a:rPr lang="en-US" b="1" i="1" dirty="0" smtClean="0">
                <a:solidFill>
                  <a:srgbClr val="FFFF00"/>
                </a:solidFill>
                <a:latin typeface="Consolas" panose="020B0609020204030204" pitchFamily="49" charset="0"/>
              </a:rPr>
              <a:t>array</a:t>
            </a:r>
            <a:r>
              <a:rPr lang="en-US" i="1" dirty="0" smtClean="0">
                <a:solidFill>
                  <a:srgbClr val="FFFF00"/>
                </a:solidFill>
                <a:latin typeface="Consolas" panose="020B0609020204030204" pitchFamily="49" charset="0"/>
              </a:rPr>
              <a:t>(*)</a:t>
            </a:r>
          </a:p>
          <a:p>
            <a:r>
              <a:rPr lang="en-US" dirty="0" smtClean="0"/>
              <a:t>But…</a:t>
            </a:r>
          </a:p>
          <a:p>
            <a:pPr lvl="1"/>
            <a:r>
              <a:rPr lang="en-US" dirty="0" smtClean="0"/>
              <a:t>Returns one value at a time</a:t>
            </a:r>
          </a:p>
          <a:p>
            <a:pPr lvl="1"/>
            <a:r>
              <a:rPr lang="en-US" dirty="0" smtClean="0"/>
              <a:t>Less memory engaged</a:t>
            </a:r>
          </a:p>
          <a:p>
            <a:pPr lvl="1"/>
            <a:r>
              <a:rPr lang="en-US" dirty="0" smtClean="0"/>
              <a:t>The caller can start processing the first values immediately</a:t>
            </a:r>
          </a:p>
          <a:p>
            <a:r>
              <a:rPr lang="en-US" dirty="0" smtClean="0"/>
              <a:t>Looks like a function, behaves like an iterator</a:t>
            </a:r>
          </a:p>
        </p:txBody>
      </p:sp>
    </p:spTree>
    <p:extLst>
      <p:ext uri="{BB962C8B-B14F-4D97-AF65-F5344CB8AC3E}">
        <p14:creationId xmlns:p14="http://schemas.microsoft.com/office/powerpoint/2010/main" val="2971909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2173704" y="3035887"/>
            <a:ext cx="1913021" cy="3248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2173704" y="3504796"/>
            <a:ext cx="1913021" cy="3248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2173705" y="4872788"/>
            <a:ext cx="956510" cy="3248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b="1" i="1" dirty="0" smtClean="0">
                <a:solidFill>
                  <a:schemeClr val="accent4">
                    <a:lumMod val="75000"/>
                  </a:schemeClr>
                </a:solidFill>
              </a:rPr>
              <a:t>Generator</a:t>
            </a:r>
            <a:r>
              <a:rPr lang="en-US" dirty="0" smtClean="0"/>
              <a:t> record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850105" y="2586789"/>
            <a:ext cx="1913021" cy="3248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173705" y="3949244"/>
            <a:ext cx="1913021" cy="3248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173705" y="4411016"/>
            <a:ext cx="1592179" cy="3248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663244"/>
            <a:ext cx="10926501" cy="4572000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US" sz="2400" i="1" dirty="0">
                <a:solidFill>
                  <a:srgbClr val="FFC000"/>
                </a:solidFill>
                <a:latin typeface="Consolas" panose="020B0609020204030204" pitchFamily="49" charset="0"/>
              </a:rPr>
              <a:t>declare namespace f = "http://www.w3.org/2005/xpath-functions-2025";</a:t>
            </a:r>
          </a:p>
          <a:p>
            <a:pPr marL="68580" indent="0">
              <a:buNone/>
            </a:pPr>
            <a:r>
              <a:rPr lang="en-US" sz="2400" i="1" dirty="0">
                <a:solidFill>
                  <a:srgbClr val="FFC000"/>
                </a:solidFill>
                <a:latin typeface="Consolas" panose="020B0609020204030204" pitchFamily="49" charset="0"/>
              </a:rPr>
              <a:t>declare record f:generator </a:t>
            </a:r>
          </a:p>
          <a:p>
            <a:pPr marL="68580" indent="0">
              <a:buNone/>
            </a:pPr>
            <a:r>
              <a:rPr lang="en-US" sz="2400" i="1" dirty="0">
                <a:solidFill>
                  <a:srgbClr val="FFC000"/>
                </a:solidFill>
                <a:latin typeface="Consolas" panose="020B0609020204030204" pitchFamily="49" charset="0"/>
              </a:rPr>
              <a:t>   ( initialized as </a:t>
            </a:r>
            <a:r>
              <a:rPr lang="en-US" sz="2400" i="1" dirty="0" err="1">
                <a:solidFill>
                  <a:srgbClr val="FFC000"/>
                </a:solidFill>
                <a:latin typeface="Consolas" panose="020B0609020204030204" pitchFamily="49" charset="0"/>
              </a:rPr>
              <a:t>xs:boolean</a:t>
            </a:r>
            <a:r>
              <a:rPr lang="en-US" sz="2400" i="1" dirty="0">
                <a:solidFill>
                  <a:srgbClr val="FFC000"/>
                </a:solidFill>
                <a:latin typeface="Consolas" panose="020B0609020204030204" pitchFamily="49" charset="0"/>
              </a:rPr>
              <a:t>,</a:t>
            </a:r>
          </a:p>
          <a:p>
            <a:pPr marL="68580" indent="0">
              <a:buNone/>
            </a:pPr>
            <a:r>
              <a:rPr lang="en-US" sz="2400" i="1" dirty="0">
                <a:solidFill>
                  <a:srgbClr val="FFC000"/>
                </a:solidFill>
                <a:latin typeface="Consolas" panose="020B0609020204030204" pitchFamily="49" charset="0"/>
              </a:rPr>
              <a:t>     end-reached as </a:t>
            </a:r>
            <a:r>
              <a:rPr lang="en-US" sz="2400" i="1" dirty="0" err="1">
                <a:solidFill>
                  <a:srgbClr val="FFC000"/>
                </a:solidFill>
                <a:latin typeface="Consolas" panose="020B0609020204030204" pitchFamily="49" charset="0"/>
              </a:rPr>
              <a:t>xs:boolean</a:t>
            </a:r>
            <a:r>
              <a:rPr lang="en-US" sz="2400" i="1" dirty="0">
                <a:solidFill>
                  <a:srgbClr val="FFC000"/>
                </a:solidFill>
                <a:latin typeface="Consolas" panose="020B0609020204030204" pitchFamily="49" charset="0"/>
              </a:rPr>
              <a:t>,</a:t>
            </a:r>
          </a:p>
          <a:p>
            <a:pPr marL="68580" indent="0">
              <a:buNone/>
            </a:pPr>
            <a:r>
              <a:rPr lang="en-US" sz="2400" i="1" dirty="0">
                <a:solidFill>
                  <a:srgbClr val="FFC000"/>
                </a:solidFill>
                <a:latin typeface="Consolas" panose="020B0609020204030204" pitchFamily="49" charset="0"/>
              </a:rPr>
              <a:t>     get-current as </a:t>
            </a:r>
            <a:r>
              <a:rPr lang="en-US" sz="2400" i="1" dirty="0" err="1">
                <a:solidFill>
                  <a:srgbClr val="FFC000"/>
                </a:solidFill>
                <a:latin typeface="Consolas" panose="020B0609020204030204" pitchFamily="49" charset="0"/>
              </a:rPr>
              <a:t>fn</a:t>
            </a:r>
            <a:r>
              <a:rPr lang="en-US" sz="2400" i="1" dirty="0">
                <a:solidFill>
                  <a:srgbClr val="FFC000"/>
                </a:solidFill>
                <a:latin typeface="Consolas" panose="020B0609020204030204" pitchFamily="49" charset="0"/>
              </a:rPr>
              <a:t>($this as f:generator) as item()*,</a:t>
            </a:r>
          </a:p>
          <a:p>
            <a:pPr marL="68580" indent="0">
              <a:buNone/>
            </a:pPr>
            <a:r>
              <a:rPr lang="en-US" sz="2400" i="1" dirty="0">
                <a:solidFill>
                  <a:srgbClr val="FFC000"/>
                </a:solidFill>
                <a:latin typeface="Consolas" panose="020B0609020204030204" pitchFamily="49" charset="0"/>
              </a:rPr>
              <a:t>     move-next as   </a:t>
            </a:r>
            <a:r>
              <a:rPr lang="en-US" sz="2400" i="1" dirty="0" err="1">
                <a:solidFill>
                  <a:srgbClr val="FFC000"/>
                </a:solidFill>
                <a:latin typeface="Consolas" panose="020B0609020204030204" pitchFamily="49" charset="0"/>
              </a:rPr>
              <a:t>fn</a:t>
            </a:r>
            <a:r>
              <a:rPr lang="en-US" sz="2400" i="1" dirty="0">
                <a:solidFill>
                  <a:srgbClr val="FFC000"/>
                </a:solidFill>
                <a:latin typeface="Consolas" panose="020B0609020204030204" pitchFamily="49" charset="0"/>
              </a:rPr>
              <a:t>($this as f:generator) as f:generator,           </a:t>
            </a:r>
          </a:p>
          <a:p>
            <a:pPr marL="68580" indent="0">
              <a:buNone/>
            </a:pPr>
            <a:r>
              <a:rPr lang="en-US" sz="2400" i="1" dirty="0">
                <a:solidFill>
                  <a:srgbClr val="FFC000"/>
                </a:solidFill>
                <a:latin typeface="Consolas" panose="020B0609020204030204" pitchFamily="49" charset="0"/>
              </a:rPr>
              <a:t>     state as map(*)</a:t>
            </a:r>
          </a:p>
          <a:p>
            <a:pPr marL="68580" indent="0">
              <a:buNone/>
            </a:pPr>
            <a:r>
              <a:rPr lang="en-US" sz="2400" i="1" dirty="0">
                <a:solidFill>
                  <a:srgbClr val="FFC000"/>
                </a:solidFill>
                <a:latin typeface="Consolas" panose="020B0609020204030204" pitchFamily="49" charset="0"/>
              </a:rPr>
              <a:t>   );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7752189"/>
              </p:ext>
            </p:extLst>
          </p:nvPr>
        </p:nvGraphicFramePr>
        <p:xfrm>
          <a:off x="1322294" y="1209030"/>
          <a:ext cx="10157012" cy="22214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50859"/>
                <a:gridCol w="4406153"/>
              </a:tblGrid>
              <a:tr h="110418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Procedural Languages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XPath: declarative</a:t>
                      </a:r>
                      <a:endParaRPr lang="en-US" sz="2800" dirty="0"/>
                    </a:p>
                  </a:txBody>
                  <a:tcPr/>
                </a:tc>
              </a:tr>
              <a:tr h="423115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Variable </a:t>
                      </a:r>
                      <a:r>
                        <a:rPr lang="en-US" sz="2400" b="1" dirty="0" smtClean="0"/>
                        <a:t>change</a:t>
                      </a:r>
                      <a:r>
                        <a:rPr lang="en-US" dirty="0" smtClean="0"/>
                        <a:t>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Variables are </a:t>
                      </a:r>
                      <a:r>
                        <a:rPr lang="en-US" sz="2400" b="1" dirty="0" smtClean="0"/>
                        <a:t>immutable</a:t>
                      </a:r>
                      <a:endParaRPr lang="en-US" sz="2400" b="1" dirty="0"/>
                    </a:p>
                  </a:txBody>
                  <a:tcPr/>
                </a:tc>
              </a:tr>
              <a:tr h="660031">
                <a:tc>
                  <a:txBody>
                    <a:bodyPr/>
                    <a:lstStyle/>
                    <a:p>
                      <a:r>
                        <a:rPr lang="en-US" sz="2400" b="0" dirty="0" smtClean="0"/>
                        <a:t>One generator,</a:t>
                      </a:r>
                      <a:r>
                        <a:rPr lang="en-US" sz="2400" b="0" baseline="0" dirty="0" smtClean="0"/>
                        <a:t> </a:t>
                      </a:r>
                      <a:r>
                        <a:rPr lang="en-US" sz="2400" b="1" baseline="0" dirty="0" smtClean="0"/>
                        <a:t>many states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 smtClean="0"/>
                        <a:t>One </a:t>
                      </a:r>
                      <a:r>
                        <a:rPr lang="en-US" sz="2400" b="0" baseline="0" dirty="0" smtClean="0"/>
                        <a:t>instance,</a:t>
                      </a:r>
                      <a:r>
                        <a:rPr lang="en-US" sz="2400" baseline="0" dirty="0" smtClean="0"/>
                        <a:t> </a:t>
                      </a:r>
                      <a:r>
                        <a:rPr lang="en-US" sz="2400" b="1" baseline="0" dirty="0" smtClean="0"/>
                        <a:t>one state</a:t>
                      </a:r>
                      <a:endParaRPr lang="en-US" sz="2400" b="1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294" y="1098583"/>
            <a:ext cx="1231929" cy="157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417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9" grpId="0" animBg="1"/>
      <p:bldP spid="19" grpId="1" animBg="1"/>
      <p:bldP spid="18" grpId="0" animBg="1"/>
      <p:bldP spid="18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ounded Rectangle 89"/>
          <p:cNvSpPr/>
          <p:nvPr/>
        </p:nvSpPr>
        <p:spPr>
          <a:xfrm>
            <a:off x="1250576" y="3386396"/>
            <a:ext cx="6037729" cy="369332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1" y="244621"/>
            <a:ext cx="10363200" cy="914400"/>
          </a:xfrm>
        </p:spPr>
        <p:txBody>
          <a:bodyPr/>
          <a:lstStyle/>
          <a:p>
            <a:r>
              <a:rPr lang="en-US" dirty="0" smtClean="0"/>
              <a:t>Definitions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4729" y="1159021"/>
            <a:ext cx="10363200" cy="4572000"/>
          </a:xfrm>
        </p:spPr>
        <p:txBody>
          <a:bodyPr/>
          <a:lstStyle/>
          <a:p>
            <a:pPr marL="68580" indent="0">
              <a:buNone/>
            </a:pPr>
            <a:r>
              <a:rPr lang="en-US" b="1" dirty="0" smtClean="0"/>
              <a:t>Empty generator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FFC000"/>
                </a:solidFill>
                <a:latin typeface="Consolas" panose="020B0609020204030204" pitchFamily="49" charset="0"/>
              </a:rPr>
              <a:t>$</a:t>
            </a:r>
            <a:r>
              <a:rPr lang="en-US" dirty="0" err="1" smtClean="0">
                <a:solidFill>
                  <a:srgbClr val="FFC000"/>
                </a:solidFill>
                <a:latin typeface="Consolas" panose="020B0609020204030204" pitchFamily="49" charset="0"/>
              </a:rPr>
              <a:t>gen?end-reached</a:t>
            </a:r>
            <a:r>
              <a:rPr lang="en-US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 smtClean="0">
                <a:solidFill>
                  <a:srgbClr val="FFC000"/>
                </a:solidFill>
                <a:latin typeface="Consolas" panose="020B0609020204030204" pitchFamily="49" charset="0"/>
              </a:rPr>
              <a:t>eq</a:t>
            </a:r>
            <a:r>
              <a:rPr lang="en-US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true()</a:t>
            </a:r>
          </a:p>
          <a:p>
            <a:pPr marL="68580" indent="0">
              <a:buNone/>
            </a:pPr>
            <a:r>
              <a:rPr lang="en-US" b="1" dirty="0" smtClean="0"/>
              <a:t> </a:t>
            </a:r>
            <a:br>
              <a:rPr lang="en-US" b="1" dirty="0" smtClean="0"/>
            </a:br>
            <a:endParaRPr lang="en-US" dirty="0">
              <a:solidFill>
                <a:srgbClr val="FFC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1084729" y="1688355"/>
            <a:ext cx="8798859" cy="40341"/>
          </a:xfrm>
          <a:prstGeom prst="line">
            <a:avLst/>
          </a:prstGeom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ight Arrow 9"/>
          <p:cNvSpPr/>
          <p:nvPr/>
        </p:nvSpPr>
        <p:spPr>
          <a:xfrm>
            <a:off x="2097741" y="2646689"/>
            <a:ext cx="389965" cy="181073"/>
          </a:xfrm>
          <a:prstGeom prst="rightArrow">
            <a:avLst/>
          </a:prstGeom>
          <a:solidFill>
            <a:srgbClr val="BF11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/>
          <p:cNvSpPr/>
          <p:nvPr/>
        </p:nvSpPr>
        <p:spPr>
          <a:xfrm>
            <a:off x="3402107" y="2646689"/>
            <a:ext cx="389965" cy="181073"/>
          </a:xfrm>
          <a:prstGeom prst="rightArrow">
            <a:avLst/>
          </a:prstGeom>
          <a:solidFill>
            <a:srgbClr val="BF11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Arrow 17"/>
          <p:cNvSpPr/>
          <p:nvPr/>
        </p:nvSpPr>
        <p:spPr>
          <a:xfrm>
            <a:off x="4693028" y="2646689"/>
            <a:ext cx="389965" cy="181073"/>
          </a:xfrm>
          <a:prstGeom prst="rightArrow">
            <a:avLst/>
          </a:prstGeom>
          <a:solidFill>
            <a:srgbClr val="BF11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/>
          <p:cNvGrpSpPr/>
          <p:nvPr/>
        </p:nvGrpSpPr>
        <p:grpSpPr>
          <a:xfrm>
            <a:off x="5354168" y="2616202"/>
            <a:ext cx="632012" cy="181073"/>
            <a:chOff x="6929710" y="3220570"/>
            <a:chExt cx="999597" cy="295832"/>
          </a:xfrm>
        </p:grpSpPr>
        <p:sp>
          <p:nvSpPr>
            <p:cNvPr id="23" name="Oval 22"/>
            <p:cNvSpPr/>
            <p:nvPr/>
          </p:nvSpPr>
          <p:spPr>
            <a:xfrm>
              <a:off x="6929710" y="3233557"/>
              <a:ext cx="264465" cy="282387"/>
            </a:xfrm>
            <a:prstGeom prst="ellipse">
              <a:avLst/>
            </a:prstGeom>
            <a:solidFill>
              <a:srgbClr val="92D050"/>
            </a:solidFill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7297276" y="3220570"/>
              <a:ext cx="264464" cy="282388"/>
            </a:xfrm>
            <a:prstGeom prst="ellipse">
              <a:avLst/>
            </a:prstGeom>
            <a:solidFill>
              <a:srgbClr val="92D050"/>
            </a:solidFill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/>
            <p:cNvSpPr/>
            <p:nvPr/>
          </p:nvSpPr>
          <p:spPr>
            <a:xfrm>
              <a:off x="7664842" y="3234015"/>
              <a:ext cx="264465" cy="282387"/>
            </a:xfrm>
            <a:prstGeom prst="ellipse">
              <a:avLst/>
            </a:prstGeom>
            <a:solidFill>
              <a:srgbClr val="92D050"/>
            </a:solidFill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ight Arrow 26"/>
          <p:cNvSpPr/>
          <p:nvPr/>
        </p:nvSpPr>
        <p:spPr>
          <a:xfrm>
            <a:off x="6228227" y="2607973"/>
            <a:ext cx="389965" cy="181073"/>
          </a:xfrm>
          <a:prstGeom prst="rightArrow">
            <a:avLst/>
          </a:prstGeom>
          <a:solidFill>
            <a:srgbClr val="BF11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8" name="Group 97"/>
          <p:cNvGrpSpPr/>
          <p:nvPr/>
        </p:nvGrpSpPr>
        <p:grpSpPr>
          <a:xfrm>
            <a:off x="7688600" y="2481679"/>
            <a:ext cx="1304849" cy="511091"/>
            <a:chOff x="7823071" y="3106218"/>
            <a:chExt cx="1304849" cy="511091"/>
          </a:xfrm>
        </p:grpSpPr>
        <p:sp>
          <p:nvSpPr>
            <p:cNvPr id="32" name="Right Arrow 31"/>
            <p:cNvSpPr/>
            <p:nvPr/>
          </p:nvSpPr>
          <p:spPr>
            <a:xfrm>
              <a:off x="7823071" y="3261796"/>
              <a:ext cx="389965" cy="181073"/>
            </a:xfrm>
            <a:prstGeom prst="rightArrow">
              <a:avLst/>
            </a:prstGeom>
            <a:solidFill>
              <a:srgbClr val="BF11B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7" name="Group 96"/>
            <p:cNvGrpSpPr/>
            <p:nvPr/>
          </p:nvGrpSpPr>
          <p:grpSpPr>
            <a:xfrm>
              <a:off x="8213036" y="3106218"/>
              <a:ext cx="914884" cy="511091"/>
              <a:chOff x="8213036" y="3106218"/>
              <a:chExt cx="914884" cy="511091"/>
            </a:xfrm>
          </p:grpSpPr>
          <p:sp>
            <p:nvSpPr>
              <p:cNvPr id="63" name="Rounded Rectangle 62"/>
              <p:cNvSpPr/>
              <p:nvPr/>
            </p:nvSpPr>
            <p:spPr>
              <a:xfrm>
                <a:off x="8374642" y="3156149"/>
                <a:ext cx="591671" cy="43030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Multiply 64"/>
              <p:cNvSpPr/>
              <p:nvPr/>
            </p:nvSpPr>
            <p:spPr>
              <a:xfrm>
                <a:off x="8213036" y="3106218"/>
                <a:ext cx="914884" cy="511091"/>
              </a:xfrm>
              <a:prstGeom prst="mathMultiply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92" name="Group 91"/>
          <p:cNvGrpSpPr/>
          <p:nvPr/>
        </p:nvGrpSpPr>
        <p:grpSpPr>
          <a:xfrm>
            <a:off x="1344705" y="2522073"/>
            <a:ext cx="591671" cy="1235417"/>
            <a:chOff x="1479176" y="3146612"/>
            <a:chExt cx="591671" cy="1235417"/>
          </a:xfrm>
        </p:grpSpPr>
        <p:grpSp>
          <p:nvGrpSpPr>
            <p:cNvPr id="9" name="Group 8"/>
            <p:cNvGrpSpPr/>
            <p:nvPr/>
          </p:nvGrpSpPr>
          <p:grpSpPr>
            <a:xfrm>
              <a:off x="1479176" y="3146612"/>
              <a:ext cx="591671" cy="430306"/>
              <a:chOff x="1479176" y="3146612"/>
              <a:chExt cx="591671" cy="430306"/>
            </a:xfrm>
          </p:grpSpPr>
          <p:sp>
            <p:nvSpPr>
              <p:cNvPr id="7" name="Rounded Rectangle 6"/>
              <p:cNvSpPr/>
              <p:nvPr/>
            </p:nvSpPr>
            <p:spPr>
              <a:xfrm>
                <a:off x="1479176" y="3146612"/>
                <a:ext cx="591671" cy="43030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1492623" y="3146612"/>
                <a:ext cx="5647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G1</a:t>
                </a:r>
                <a:endParaRPr lang="en-US" dirty="0"/>
              </a:p>
            </p:txBody>
          </p:sp>
        </p:grpSp>
        <p:grpSp>
          <p:nvGrpSpPr>
            <p:cNvPr id="68" name="Group 67"/>
            <p:cNvGrpSpPr/>
            <p:nvPr/>
          </p:nvGrpSpPr>
          <p:grpSpPr>
            <a:xfrm>
              <a:off x="1506070" y="3751729"/>
              <a:ext cx="537881" cy="630300"/>
              <a:chOff x="1506070" y="3751729"/>
              <a:chExt cx="537881" cy="630300"/>
            </a:xfrm>
          </p:grpSpPr>
          <p:sp>
            <p:nvSpPr>
              <p:cNvPr id="66" name="Down Arrow 65"/>
              <p:cNvSpPr/>
              <p:nvPr/>
            </p:nvSpPr>
            <p:spPr>
              <a:xfrm>
                <a:off x="1680883" y="3751729"/>
                <a:ext cx="94130" cy="182285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>
                <a:off x="1506070" y="4012697"/>
                <a:ext cx="5378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solidFill>
                      <a:srgbClr val="FFFF00"/>
                    </a:solidFill>
                  </a:rPr>
                  <a:t>V1</a:t>
                </a:r>
                <a:endParaRPr lang="en-US" dirty="0">
                  <a:solidFill>
                    <a:srgbClr val="FFFF00"/>
                  </a:solidFill>
                </a:endParaRPr>
              </a:p>
            </p:txBody>
          </p:sp>
        </p:grpSp>
      </p:grpSp>
      <p:grpSp>
        <p:nvGrpSpPr>
          <p:cNvPr id="93" name="Group 92"/>
          <p:cNvGrpSpPr/>
          <p:nvPr/>
        </p:nvGrpSpPr>
        <p:grpSpPr>
          <a:xfrm>
            <a:off x="2649071" y="2522073"/>
            <a:ext cx="591671" cy="1238098"/>
            <a:chOff x="2783542" y="3146612"/>
            <a:chExt cx="591671" cy="1238098"/>
          </a:xfrm>
        </p:grpSpPr>
        <p:grpSp>
          <p:nvGrpSpPr>
            <p:cNvPr id="11" name="Group 10"/>
            <p:cNvGrpSpPr/>
            <p:nvPr/>
          </p:nvGrpSpPr>
          <p:grpSpPr>
            <a:xfrm>
              <a:off x="2783542" y="3146612"/>
              <a:ext cx="591671" cy="430306"/>
              <a:chOff x="1479176" y="3146612"/>
              <a:chExt cx="591671" cy="430306"/>
            </a:xfrm>
          </p:grpSpPr>
          <p:sp>
            <p:nvSpPr>
              <p:cNvPr id="12" name="Rounded Rectangle 11"/>
              <p:cNvSpPr/>
              <p:nvPr/>
            </p:nvSpPr>
            <p:spPr>
              <a:xfrm>
                <a:off x="1479176" y="3146612"/>
                <a:ext cx="591671" cy="43030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1492623" y="3146612"/>
                <a:ext cx="5647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G2</a:t>
                </a:r>
                <a:endParaRPr lang="en-US" dirty="0"/>
              </a:p>
            </p:txBody>
          </p:sp>
        </p:grpSp>
        <p:grpSp>
          <p:nvGrpSpPr>
            <p:cNvPr id="69" name="Group 68"/>
            <p:cNvGrpSpPr/>
            <p:nvPr/>
          </p:nvGrpSpPr>
          <p:grpSpPr>
            <a:xfrm>
              <a:off x="2837332" y="3754410"/>
              <a:ext cx="537881" cy="630300"/>
              <a:chOff x="1506070" y="3751729"/>
              <a:chExt cx="537881" cy="630300"/>
            </a:xfrm>
          </p:grpSpPr>
          <p:sp>
            <p:nvSpPr>
              <p:cNvPr id="70" name="Down Arrow 69"/>
              <p:cNvSpPr/>
              <p:nvPr/>
            </p:nvSpPr>
            <p:spPr>
              <a:xfrm>
                <a:off x="1680883" y="3751729"/>
                <a:ext cx="94130" cy="182285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TextBox 70"/>
              <p:cNvSpPr txBox="1"/>
              <p:nvPr/>
            </p:nvSpPr>
            <p:spPr>
              <a:xfrm>
                <a:off x="1506070" y="4012697"/>
                <a:ext cx="5378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solidFill>
                      <a:srgbClr val="FFFF00"/>
                    </a:solidFill>
                  </a:rPr>
                  <a:t>V2</a:t>
                </a:r>
                <a:endParaRPr lang="en-US" dirty="0">
                  <a:solidFill>
                    <a:srgbClr val="FFFF00"/>
                  </a:solidFill>
                </a:endParaRPr>
              </a:p>
            </p:txBody>
          </p:sp>
        </p:grpSp>
      </p:grpSp>
      <p:grpSp>
        <p:nvGrpSpPr>
          <p:cNvPr id="94" name="Group 93"/>
          <p:cNvGrpSpPr/>
          <p:nvPr/>
        </p:nvGrpSpPr>
        <p:grpSpPr>
          <a:xfrm>
            <a:off x="3953437" y="2522073"/>
            <a:ext cx="591671" cy="1238098"/>
            <a:chOff x="4087908" y="3146612"/>
            <a:chExt cx="591671" cy="1238098"/>
          </a:xfrm>
        </p:grpSpPr>
        <p:grpSp>
          <p:nvGrpSpPr>
            <p:cNvPr id="15" name="Group 14"/>
            <p:cNvGrpSpPr/>
            <p:nvPr/>
          </p:nvGrpSpPr>
          <p:grpSpPr>
            <a:xfrm>
              <a:off x="4087908" y="3146612"/>
              <a:ext cx="591671" cy="430306"/>
              <a:chOff x="1479176" y="3146612"/>
              <a:chExt cx="591671" cy="430306"/>
            </a:xfrm>
          </p:grpSpPr>
          <p:sp>
            <p:nvSpPr>
              <p:cNvPr id="16" name="Rounded Rectangle 15"/>
              <p:cNvSpPr/>
              <p:nvPr/>
            </p:nvSpPr>
            <p:spPr>
              <a:xfrm>
                <a:off x="1479176" y="3146612"/>
                <a:ext cx="591671" cy="43030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1492623" y="3146612"/>
                <a:ext cx="5647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G3</a:t>
                </a:r>
                <a:endParaRPr lang="en-US" dirty="0"/>
              </a:p>
            </p:txBody>
          </p:sp>
        </p:grpSp>
        <p:grpSp>
          <p:nvGrpSpPr>
            <p:cNvPr id="72" name="Group 71"/>
            <p:cNvGrpSpPr/>
            <p:nvPr/>
          </p:nvGrpSpPr>
          <p:grpSpPr>
            <a:xfrm>
              <a:off x="4132730" y="3754410"/>
              <a:ext cx="537881" cy="630300"/>
              <a:chOff x="1506070" y="3751729"/>
              <a:chExt cx="537881" cy="630300"/>
            </a:xfrm>
          </p:grpSpPr>
          <p:sp>
            <p:nvSpPr>
              <p:cNvPr id="73" name="Down Arrow 72"/>
              <p:cNvSpPr/>
              <p:nvPr/>
            </p:nvSpPr>
            <p:spPr>
              <a:xfrm>
                <a:off x="1680883" y="3751729"/>
                <a:ext cx="94130" cy="182285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TextBox 73"/>
              <p:cNvSpPr txBox="1"/>
              <p:nvPr/>
            </p:nvSpPr>
            <p:spPr>
              <a:xfrm>
                <a:off x="1506070" y="4012697"/>
                <a:ext cx="5378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solidFill>
                      <a:srgbClr val="FFFF00"/>
                    </a:solidFill>
                  </a:rPr>
                  <a:t>V3</a:t>
                </a:r>
                <a:endParaRPr lang="en-US" dirty="0">
                  <a:solidFill>
                    <a:srgbClr val="FFFF00"/>
                  </a:solidFill>
                </a:endParaRPr>
              </a:p>
            </p:txBody>
          </p:sp>
        </p:grpSp>
      </p:grpSp>
      <p:grpSp>
        <p:nvGrpSpPr>
          <p:cNvPr id="95" name="Group 94"/>
          <p:cNvGrpSpPr/>
          <p:nvPr/>
        </p:nvGrpSpPr>
        <p:grpSpPr>
          <a:xfrm>
            <a:off x="6860241" y="2522073"/>
            <a:ext cx="591671" cy="1233655"/>
            <a:chOff x="6994712" y="3146612"/>
            <a:chExt cx="591671" cy="1233655"/>
          </a:xfrm>
        </p:grpSpPr>
        <p:grpSp>
          <p:nvGrpSpPr>
            <p:cNvPr id="29" name="Group 28"/>
            <p:cNvGrpSpPr/>
            <p:nvPr/>
          </p:nvGrpSpPr>
          <p:grpSpPr>
            <a:xfrm>
              <a:off x="6994712" y="3146612"/>
              <a:ext cx="591671" cy="430306"/>
              <a:chOff x="1479176" y="3146612"/>
              <a:chExt cx="591671" cy="430306"/>
            </a:xfrm>
          </p:grpSpPr>
          <p:sp>
            <p:nvSpPr>
              <p:cNvPr id="30" name="Rounded Rectangle 29"/>
              <p:cNvSpPr/>
              <p:nvPr/>
            </p:nvSpPr>
            <p:spPr>
              <a:xfrm>
                <a:off x="1479176" y="3146612"/>
                <a:ext cx="591671" cy="43030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1492623" y="3146612"/>
                <a:ext cx="5647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 smtClean="0"/>
                  <a:t>Gn</a:t>
                </a:r>
                <a:endParaRPr lang="en-US" dirty="0"/>
              </a:p>
            </p:txBody>
          </p:sp>
        </p:grpSp>
        <p:grpSp>
          <p:nvGrpSpPr>
            <p:cNvPr id="75" name="Group 74"/>
            <p:cNvGrpSpPr/>
            <p:nvPr/>
          </p:nvGrpSpPr>
          <p:grpSpPr>
            <a:xfrm>
              <a:off x="6994712" y="3749967"/>
              <a:ext cx="537881" cy="630300"/>
              <a:chOff x="1506070" y="3751729"/>
              <a:chExt cx="537881" cy="630300"/>
            </a:xfrm>
          </p:grpSpPr>
          <p:sp>
            <p:nvSpPr>
              <p:cNvPr id="76" name="Down Arrow 75"/>
              <p:cNvSpPr/>
              <p:nvPr/>
            </p:nvSpPr>
            <p:spPr>
              <a:xfrm>
                <a:off x="1680883" y="3751729"/>
                <a:ext cx="94130" cy="182285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TextBox 76"/>
              <p:cNvSpPr txBox="1"/>
              <p:nvPr/>
            </p:nvSpPr>
            <p:spPr>
              <a:xfrm>
                <a:off x="1506070" y="4012697"/>
                <a:ext cx="5378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 smtClean="0">
                    <a:solidFill>
                      <a:srgbClr val="FFFF00"/>
                    </a:solidFill>
                  </a:rPr>
                  <a:t>Vn</a:t>
                </a:r>
                <a:endParaRPr lang="en-US" dirty="0">
                  <a:solidFill>
                    <a:srgbClr val="FFFF00"/>
                  </a:solidFill>
                </a:endParaRPr>
              </a:p>
            </p:txBody>
          </p:sp>
        </p:grpSp>
      </p:grpSp>
      <p:sp>
        <p:nvSpPr>
          <p:cNvPr id="96" name="TextBox 95"/>
          <p:cNvSpPr txBox="1"/>
          <p:nvPr/>
        </p:nvSpPr>
        <p:spPr>
          <a:xfrm>
            <a:off x="1250576" y="1848385"/>
            <a:ext cx="123713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FFC000"/>
                </a:solidFill>
              </a:rPr>
              <a:t>Yield:</a:t>
            </a:r>
            <a:endParaRPr lang="en-US" sz="3000" dirty="0">
              <a:solidFill>
                <a:srgbClr val="FFC000"/>
              </a:solidFill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7839635" y="4993634"/>
            <a:ext cx="797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0" name="TextBox 149"/>
          <p:cNvSpPr txBox="1"/>
          <p:nvPr/>
        </p:nvSpPr>
        <p:spPr>
          <a:xfrm>
            <a:off x="1234893" y="5699424"/>
            <a:ext cx="86486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 smtClean="0">
                <a:solidFill>
                  <a:schemeClr val="tx1">
                    <a:lumMod val="50000"/>
                  </a:schemeClr>
                </a:solidFill>
              </a:rPr>
              <a:t>Empty yield</a:t>
            </a:r>
            <a:r>
              <a:rPr lang="en-US" sz="3000" dirty="0" smtClean="0"/>
              <a:t>: </a:t>
            </a:r>
            <a:r>
              <a:rPr lang="en-US" sz="30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$G1?end-reached </a:t>
            </a:r>
            <a:r>
              <a:rPr lang="en-US" sz="3000" dirty="0" err="1" smtClean="0">
                <a:solidFill>
                  <a:srgbClr val="FFC000"/>
                </a:solidFill>
                <a:latin typeface="Consolas" panose="020B0609020204030204" pitchFamily="49" charset="0"/>
              </a:rPr>
              <a:t>eq</a:t>
            </a:r>
            <a:r>
              <a:rPr lang="en-US" sz="30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true()</a:t>
            </a:r>
          </a:p>
          <a:p>
            <a:r>
              <a:rPr lang="en-US" sz="3000" b="1" dirty="0" smtClean="0">
                <a:solidFill>
                  <a:schemeClr val="tx1">
                    <a:lumMod val="50000"/>
                  </a:schemeClr>
                </a:solidFill>
              </a:rPr>
              <a:t>Infinite generator: </a:t>
            </a:r>
            <a:r>
              <a:rPr lang="en-US" sz="30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Whose yield is </a:t>
            </a:r>
            <a:r>
              <a:rPr lang="en-US" sz="3000" b="1" dirty="0" smtClean="0">
                <a:solidFill>
                  <a:srgbClr val="FFC000"/>
                </a:solidFill>
                <a:latin typeface="Consolas" panose="020B0609020204030204" pitchFamily="49" charset="0"/>
              </a:rPr>
              <a:t>infinite</a:t>
            </a:r>
            <a:endParaRPr lang="en-US" sz="3000" b="1" dirty="0">
              <a:solidFill>
                <a:srgbClr val="FFC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151" name="Straight Connector 150"/>
          <p:cNvCxnSpPr/>
          <p:nvPr/>
        </p:nvCxnSpPr>
        <p:spPr>
          <a:xfrm flipV="1">
            <a:off x="1036105" y="5436924"/>
            <a:ext cx="8798859" cy="40341"/>
          </a:xfrm>
          <a:prstGeom prst="line">
            <a:avLst/>
          </a:prstGeom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2" name="Group 151"/>
          <p:cNvGrpSpPr/>
          <p:nvPr/>
        </p:nvGrpSpPr>
        <p:grpSpPr>
          <a:xfrm>
            <a:off x="5351929" y="3474785"/>
            <a:ext cx="632012" cy="181073"/>
            <a:chOff x="6929710" y="3220570"/>
            <a:chExt cx="999597" cy="295832"/>
          </a:xfrm>
        </p:grpSpPr>
        <p:sp>
          <p:nvSpPr>
            <p:cNvPr id="153" name="Oval 152"/>
            <p:cNvSpPr/>
            <p:nvPr/>
          </p:nvSpPr>
          <p:spPr>
            <a:xfrm>
              <a:off x="6929710" y="3233557"/>
              <a:ext cx="264465" cy="282387"/>
            </a:xfrm>
            <a:prstGeom prst="ellipse">
              <a:avLst/>
            </a:prstGeom>
            <a:solidFill>
              <a:srgbClr val="92D050"/>
            </a:solidFill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Oval 153"/>
            <p:cNvSpPr/>
            <p:nvPr/>
          </p:nvSpPr>
          <p:spPr>
            <a:xfrm>
              <a:off x="7297276" y="3220570"/>
              <a:ext cx="264464" cy="282388"/>
            </a:xfrm>
            <a:prstGeom prst="ellipse">
              <a:avLst/>
            </a:prstGeom>
            <a:solidFill>
              <a:srgbClr val="92D050"/>
            </a:solidFill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Oval 154"/>
            <p:cNvSpPr/>
            <p:nvPr/>
          </p:nvSpPr>
          <p:spPr>
            <a:xfrm>
              <a:off x="7664842" y="3234015"/>
              <a:ext cx="264465" cy="282387"/>
            </a:xfrm>
            <a:prstGeom prst="ellipse">
              <a:avLst/>
            </a:prstGeom>
            <a:solidFill>
              <a:srgbClr val="92D050"/>
            </a:solidFill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1248337" y="4129311"/>
            <a:ext cx="7621607" cy="1238098"/>
            <a:chOff x="1248337" y="4129311"/>
            <a:chExt cx="7621607" cy="1238098"/>
          </a:xfrm>
        </p:grpSpPr>
        <p:sp>
          <p:nvSpPr>
            <p:cNvPr id="99" name="Rounded Rectangle 98"/>
            <p:cNvSpPr/>
            <p:nvPr/>
          </p:nvSpPr>
          <p:spPr>
            <a:xfrm>
              <a:off x="1248337" y="4993634"/>
              <a:ext cx="6989595" cy="340495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ight Arrow 99"/>
            <p:cNvSpPr/>
            <p:nvPr/>
          </p:nvSpPr>
          <p:spPr>
            <a:xfrm>
              <a:off x="2095502" y="4253927"/>
              <a:ext cx="389965" cy="181073"/>
            </a:xfrm>
            <a:prstGeom prst="rightArrow">
              <a:avLst/>
            </a:prstGeom>
            <a:solidFill>
              <a:srgbClr val="BF11B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ight Arrow 100"/>
            <p:cNvSpPr/>
            <p:nvPr/>
          </p:nvSpPr>
          <p:spPr>
            <a:xfrm>
              <a:off x="3399868" y="4253927"/>
              <a:ext cx="389965" cy="181073"/>
            </a:xfrm>
            <a:prstGeom prst="rightArrow">
              <a:avLst/>
            </a:prstGeom>
            <a:solidFill>
              <a:srgbClr val="BF11B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ight Arrow 101"/>
            <p:cNvSpPr/>
            <p:nvPr/>
          </p:nvSpPr>
          <p:spPr>
            <a:xfrm>
              <a:off x="4690789" y="4253927"/>
              <a:ext cx="389965" cy="181073"/>
            </a:xfrm>
            <a:prstGeom prst="rightArrow">
              <a:avLst/>
            </a:prstGeom>
            <a:solidFill>
              <a:srgbClr val="BF11B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3" name="Group 102"/>
            <p:cNvGrpSpPr/>
            <p:nvPr/>
          </p:nvGrpSpPr>
          <p:grpSpPr>
            <a:xfrm>
              <a:off x="5351929" y="4223440"/>
              <a:ext cx="632012" cy="181073"/>
              <a:chOff x="6929710" y="3220570"/>
              <a:chExt cx="999597" cy="295832"/>
            </a:xfrm>
          </p:grpSpPr>
          <p:sp>
            <p:nvSpPr>
              <p:cNvPr id="104" name="Oval 103"/>
              <p:cNvSpPr/>
              <p:nvPr/>
            </p:nvSpPr>
            <p:spPr>
              <a:xfrm>
                <a:off x="6929710" y="3233557"/>
                <a:ext cx="264465" cy="282387"/>
              </a:xfrm>
              <a:prstGeom prst="ellipse">
                <a:avLst/>
              </a:prstGeom>
              <a:solidFill>
                <a:srgbClr val="92D050"/>
              </a:solidFill>
              <a:ln w="63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Oval 104"/>
              <p:cNvSpPr/>
              <p:nvPr/>
            </p:nvSpPr>
            <p:spPr>
              <a:xfrm>
                <a:off x="7297276" y="3220570"/>
                <a:ext cx="264464" cy="282388"/>
              </a:xfrm>
              <a:prstGeom prst="ellipse">
                <a:avLst/>
              </a:prstGeom>
              <a:solidFill>
                <a:srgbClr val="92D050"/>
              </a:solidFill>
              <a:ln w="63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Oval 105"/>
              <p:cNvSpPr/>
              <p:nvPr/>
            </p:nvSpPr>
            <p:spPr>
              <a:xfrm>
                <a:off x="7664842" y="3234015"/>
                <a:ext cx="264465" cy="282387"/>
              </a:xfrm>
              <a:prstGeom prst="ellipse">
                <a:avLst/>
              </a:prstGeom>
              <a:solidFill>
                <a:srgbClr val="92D050"/>
              </a:solidFill>
              <a:ln w="63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7" name="Right Arrow 106"/>
            <p:cNvSpPr/>
            <p:nvPr/>
          </p:nvSpPr>
          <p:spPr>
            <a:xfrm>
              <a:off x="6225988" y="4215211"/>
              <a:ext cx="389965" cy="181073"/>
            </a:xfrm>
            <a:prstGeom prst="rightArrow">
              <a:avLst/>
            </a:prstGeom>
            <a:solidFill>
              <a:srgbClr val="BF11B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ight Arrow 108"/>
            <p:cNvSpPr/>
            <p:nvPr/>
          </p:nvSpPr>
          <p:spPr>
            <a:xfrm>
              <a:off x="7686361" y="4244495"/>
              <a:ext cx="389965" cy="181073"/>
            </a:xfrm>
            <a:prstGeom prst="rightArrow">
              <a:avLst/>
            </a:prstGeom>
            <a:solidFill>
              <a:srgbClr val="BF11B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3" name="Group 112"/>
            <p:cNvGrpSpPr/>
            <p:nvPr/>
          </p:nvGrpSpPr>
          <p:grpSpPr>
            <a:xfrm>
              <a:off x="1342466" y="4129311"/>
              <a:ext cx="591671" cy="1235417"/>
              <a:chOff x="1479176" y="3146612"/>
              <a:chExt cx="591671" cy="1235417"/>
            </a:xfrm>
          </p:grpSpPr>
          <p:grpSp>
            <p:nvGrpSpPr>
              <p:cNvPr id="114" name="Group 113"/>
              <p:cNvGrpSpPr/>
              <p:nvPr/>
            </p:nvGrpSpPr>
            <p:grpSpPr>
              <a:xfrm>
                <a:off x="1479176" y="3146612"/>
                <a:ext cx="591671" cy="430306"/>
                <a:chOff x="1479176" y="3146612"/>
                <a:chExt cx="591671" cy="430306"/>
              </a:xfrm>
            </p:grpSpPr>
            <p:sp>
              <p:nvSpPr>
                <p:cNvPr id="118" name="Rounded Rectangle 117"/>
                <p:cNvSpPr/>
                <p:nvPr/>
              </p:nvSpPr>
              <p:spPr>
                <a:xfrm>
                  <a:off x="1479176" y="3146612"/>
                  <a:ext cx="591671" cy="430306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" name="TextBox 118"/>
                <p:cNvSpPr txBox="1"/>
                <p:nvPr/>
              </p:nvSpPr>
              <p:spPr>
                <a:xfrm>
                  <a:off x="1492623" y="3146612"/>
                  <a:ext cx="5647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 smtClean="0"/>
                    <a:t>G1</a:t>
                  </a:r>
                  <a:endParaRPr lang="en-US" dirty="0"/>
                </a:p>
              </p:txBody>
            </p:sp>
          </p:grpSp>
          <p:grpSp>
            <p:nvGrpSpPr>
              <p:cNvPr id="115" name="Group 114"/>
              <p:cNvGrpSpPr/>
              <p:nvPr/>
            </p:nvGrpSpPr>
            <p:grpSpPr>
              <a:xfrm>
                <a:off x="1506070" y="3751729"/>
                <a:ext cx="537881" cy="630300"/>
                <a:chOff x="1506070" y="3751729"/>
                <a:chExt cx="537881" cy="630300"/>
              </a:xfrm>
            </p:grpSpPr>
            <p:sp>
              <p:nvSpPr>
                <p:cNvPr id="116" name="Down Arrow 115"/>
                <p:cNvSpPr/>
                <p:nvPr/>
              </p:nvSpPr>
              <p:spPr>
                <a:xfrm>
                  <a:off x="1680883" y="3751729"/>
                  <a:ext cx="94130" cy="182285"/>
                </a:xfrm>
                <a:prstGeom prst="down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TextBox 116"/>
                <p:cNvSpPr txBox="1"/>
                <p:nvPr/>
              </p:nvSpPr>
              <p:spPr>
                <a:xfrm>
                  <a:off x="1506070" y="4012697"/>
                  <a:ext cx="53788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 smtClean="0">
                      <a:solidFill>
                        <a:srgbClr val="FFFF00"/>
                      </a:solidFill>
                    </a:rPr>
                    <a:t>V1</a:t>
                  </a:r>
                  <a:endParaRPr lang="en-US" dirty="0">
                    <a:solidFill>
                      <a:srgbClr val="FFFF00"/>
                    </a:solidFill>
                  </a:endParaRPr>
                </a:p>
              </p:txBody>
            </p:sp>
          </p:grpSp>
        </p:grpSp>
        <p:grpSp>
          <p:nvGrpSpPr>
            <p:cNvPr id="120" name="Group 119"/>
            <p:cNvGrpSpPr/>
            <p:nvPr/>
          </p:nvGrpSpPr>
          <p:grpSpPr>
            <a:xfrm>
              <a:off x="2646832" y="4129311"/>
              <a:ext cx="591671" cy="1238098"/>
              <a:chOff x="2783542" y="3146612"/>
              <a:chExt cx="591671" cy="1238098"/>
            </a:xfrm>
          </p:grpSpPr>
          <p:grpSp>
            <p:nvGrpSpPr>
              <p:cNvPr id="121" name="Group 120"/>
              <p:cNvGrpSpPr/>
              <p:nvPr/>
            </p:nvGrpSpPr>
            <p:grpSpPr>
              <a:xfrm>
                <a:off x="2783542" y="3146612"/>
                <a:ext cx="591671" cy="430306"/>
                <a:chOff x="1479176" y="3146612"/>
                <a:chExt cx="591671" cy="430306"/>
              </a:xfrm>
            </p:grpSpPr>
            <p:sp>
              <p:nvSpPr>
                <p:cNvPr id="125" name="Rounded Rectangle 124"/>
                <p:cNvSpPr/>
                <p:nvPr/>
              </p:nvSpPr>
              <p:spPr>
                <a:xfrm>
                  <a:off x="1479176" y="3146612"/>
                  <a:ext cx="591671" cy="430306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" name="TextBox 125"/>
                <p:cNvSpPr txBox="1"/>
                <p:nvPr/>
              </p:nvSpPr>
              <p:spPr>
                <a:xfrm>
                  <a:off x="1492623" y="3146612"/>
                  <a:ext cx="5647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 smtClean="0"/>
                    <a:t>G2</a:t>
                  </a:r>
                  <a:endParaRPr lang="en-US" dirty="0"/>
                </a:p>
              </p:txBody>
            </p:sp>
          </p:grpSp>
          <p:grpSp>
            <p:nvGrpSpPr>
              <p:cNvPr id="122" name="Group 121"/>
              <p:cNvGrpSpPr/>
              <p:nvPr/>
            </p:nvGrpSpPr>
            <p:grpSpPr>
              <a:xfrm>
                <a:off x="2837332" y="3754410"/>
                <a:ext cx="537881" cy="630300"/>
                <a:chOff x="1506070" y="3751729"/>
                <a:chExt cx="537881" cy="630300"/>
              </a:xfrm>
            </p:grpSpPr>
            <p:sp>
              <p:nvSpPr>
                <p:cNvPr id="123" name="Down Arrow 122"/>
                <p:cNvSpPr/>
                <p:nvPr/>
              </p:nvSpPr>
              <p:spPr>
                <a:xfrm>
                  <a:off x="1680883" y="3751729"/>
                  <a:ext cx="94130" cy="182285"/>
                </a:xfrm>
                <a:prstGeom prst="down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" name="TextBox 123"/>
                <p:cNvSpPr txBox="1"/>
                <p:nvPr/>
              </p:nvSpPr>
              <p:spPr>
                <a:xfrm>
                  <a:off x="1506070" y="4012697"/>
                  <a:ext cx="53788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 smtClean="0">
                      <a:solidFill>
                        <a:srgbClr val="FFFF00"/>
                      </a:solidFill>
                    </a:rPr>
                    <a:t>V2</a:t>
                  </a:r>
                  <a:endParaRPr lang="en-US" dirty="0">
                    <a:solidFill>
                      <a:srgbClr val="FFFF00"/>
                    </a:solidFill>
                  </a:endParaRPr>
                </a:p>
              </p:txBody>
            </p:sp>
          </p:grpSp>
        </p:grpSp>
        <p:grpSp>
          <p:nvGrpSpPr>
            <p:cNvPr id="127" name="Group 126"/>
            <p:cNvGrpSpPr/>
            <p:nvPr/>
          </p:nvGrpSpPr>
          <p:grpSpPr>
            <a:xfrm>
              <a:off x="3951198" y="4129311"/>
              <a:ext cx="591671" cy="1238098"/>
              <a:chOff x="4087908" y="3146612"/>
              <a:chExt cx="591671" cy="1238098"/>
            </a:xfrm>
          </p:grpSpPr>
          <p:grpSp>
            <p:nvGrpSpPr>
              <p:cNvPr id="128" name="Group 127"/>
              <p:cNvGrpSpPr/>
              <p:nvPr/>
            </p:nvGrpSpPr>
            <p:grpSpPr>
              <a:xfrm>
                <a:off x="4087908" y="3146612"/>
                <a:ext cx="591671" cy="430306"/>
                <a:chOff x="1479176" y="3146612"/>
                <a:chExt cx="591671" cy="430306"/>
              </a:xfrm>
            </p:grpSpPr>
            <p:sp>
              <p:nvSpPr>
                <p:cNvPr id="132" name="Rounded Rectangle 131"/>
                <p:cNvSpPr/>
                <p:nvPr/>
              </p:nvSpPr>
              <p:spPr>
                <a:xfrm>
                  <a:off x="1479176" y="3146612"/>
                  <a:ext cx="591671" cy="430306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" name="TextBox 132"/>
                <p:cNvSpPr txBox="1"/>
                <p:nvPr/>
              </p:nvSpPr>
              <p:spPr>
                <a:xfrm>
                  <a:off x="1492623" y="3146612"/>
                  <a:ext cx="5647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 smtClean="0"/>
                    <a:t>G3</a:t>
                  </a:r>
                  <a:endParaRPr lang="en-US" dirty="0"/>
                </a:p>
              </p:txBody>
            </p:sp>
          </p:grpSp>
          <p:grpSp>
            <p:nvGrpSpPr>
              <p:cNvPr id="129" name="Group 128"/>
              <p:cNvGrpSpPr/>
              <p:nvPr/>
            </p:nvGrpSpPr>
            <p:grpSpPr>
              <a:xfrm>
                <a:off x="4132730" y="3754410"/>
                <a:ext cx="537881" cy="630300"/>
                <a:chOff x="1506070" y="3751729"/>
                <a:chExt cx="537881" cy="630300"/>
              </a:xfrm>
            </p:grpSpPr>
            <p:sp>
              <p:nvSpPr>
                <p:cNvPr id="130" name="Down Arrow 129"/>
                <p:cNvSpPr/>
                <p:nvPr/>
              </p:nvSpPr>
              <p:spPr>
                <a:xfrm>
                  <a:off x="1680883" y="3751729"/>
                  <a:ext cx="94130" cy="182285"/>
                </a:xfrm>
                <a:prstGeom prst="down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" name="TextBox 130"/>
                <p:cNvSpPr txBox="1"/>
                <p:nvPr/>
              </p:nvSpPr>
              <p:spPr>
                <a:xfrm>
                  <a:off x="1506070" y="4012697"/>
                  <a:ext cx="53788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 smtClean="0">
                      <a:solidFill>
                        <a:srgbClr val="FFFF00"/>
                      </a:solidFill>
                    </a:rPr>
                    <a:t>V3</a:t>
                  </a:r>
                  <a:endParaRPr lang="en-US" dirty="0">
                    <a:solidFill>
                      <a:srgbClr val="FFFF00"/>
                    </a:solidFill>
                  </a:endParaRPr>
                </a:p>
              </p:txBody>
            </p:sp>
          </p:grpSp>
        </p:grpSp>
        <p:grpSp>
          <p:nvGrpSpPr>
            <p:cNvPr id="134" name="Group 133"/>
            <p:cNvGrpSpPr/>
            <p:nvPr/>
          </p:nvGrpSpPr>
          <p:grpSpPr>
            <a:xfrm>
              <a:off x="6858002" y="4129311"/>
              <a:ext cx="591671" cy="1233655"/>
              <a:chOff x="6994712" y="3146612"/>
              <a:chExt cx="591671" cy="1233655"/>
            </a:xfrm>
          </p:grpSpPr>
          <p:grpSp>
            <p:nvGrpSpPr>
              <p:cNvPr id="135" name="Group 134"/>
              <p:cNvGrpSpPr/>
              <p:nvPr/>
            </p:nvGrpSpPr>
            <p:grpSpPr>
              <a:xfrm>
                <a:off x="6994712" y="3146612"/>
                <a:ext cx="591671" cy="430306"/>
                <a:chOff x="1479176" y="3146612"/>
                <a:chExt cx="591671" cy="430306"/>
              </a:xfrm>
            </p:grpSpPr>
            <p:sp>
              <p:nvSpPr>
                <p:cNvPr id="139" name="Rounded Rectangle 138"/>
                <p:cNvSpPr/>
                <p:nvPr/>
              </p:nvSpPr>
              <p:spPr>
                <a:xfrm>
                  <a:off x="1479176" y="3146612"/>
                  <a:ext cx="591671" cy="430306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" name="TextBox 139"/>
                <p:cNvSpPr txBox="1"/>
                <p:nvPr/>
              </p:nvSpPr>
              <p:spPr>
                <a:xfrm>
                  <a:off x="1492623" y="3146612"/>
                  <a:ext cx="5647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 err="1" smtClean="0"/>
                    <a:t>Gn</a:t>
                  </a:r>
                  <a:endParaRPr lang="en-US" dirty="0"/>
                </a:p>
              </p:txBody>
            </p:sp>
          </p:grpSp>
          <p:grpSp>
            <p:nvGrpSpPr>
              <p:cNvPr id="136" name="Group 135"/>
              <p:cNvGrpSpPr/>
              <p:nvPr/>
            </p:nvGrpSpPr>
            <p:grpSpPr>
              <a:xfrm>
                <a:off x="6994712" y="3749967"/>
                <a:ext cx="537881" cy="630300"/>
                <a:chOff x="1506070" y="3751729"/>
                <a:chExt cx="537881" cy="630300"/>
              </a:xfrm>
            </p:grpSpPr>
            <p:sp>
              <p:nvSpPr>
                <p:cNvPr id="137" name="Down Arrow 136"/>
                <p:cNvSpPr/>
                <p:nvPr/>
              </p:nvSpPr>
              <p:spPr>
                <a:xfrm>
                  <a:off x="1680883" y="3751729"/>
                  <a:ext cx="94130" cy="182285"/>
                </a:xfrm>
                <a:prstGeom prst="down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8" name="TextBox 137"/>
                <p:cNvSpPr txBox="1"/>
                <p:nvPr/>
              </p:nvSpPr>
              <p:spPr>
                <a:xfrm>
                  <a:off x="1506070" y="4012697"/>
                  <a:ext cx="53788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 err="1" smtClean="0">
                      <a:solidFill>
                        <a:srgbClr val="FFFF00"/>
                      </a:solidFill>
                    </a:rPr>
                    <a:t>Vn</a:t>
                  </a:r>
                  <a:endParaRPr lang="en-US" dirty="0">
                    <a:solidFill>
                      <a:srgbClr val="FFFF00"/>
                    </a:solidFill>
                  </a:endParaRPr>
                </a:p>
              </p:txBody>
            </p:sp>
          </p:grpSp>
        </p:grpSp>
        <p:grpSp>
          <p:nvGrpSpPr>
            <p:cNvPr id="141" name="Group 140"/>
            <p:cNvGrpSpPr/>
            <p:nvPr/>
          </p:nvGrpSpPr>
          <p:grpSpPr>
            <a:xfrm>
              <a:off x="8237932" y="4244273"/>
              <a:ext cx="632012" cy="181073"/>
              <a:chOff x="6929710" y="3220570"/>
              <a:chExt cx="999597" cy="295832"/>
            </a:xfrm>
          </p:grpSpPr>
          <p:sp>
            <p:nvSpPr>
              <p:cNvPr id="142" name="Oval 141"/>
              <p:cNvSpPr/>
              <p:nvPr/>
            </p:nvSpPr>
            <p:spPr>
              <a:xfrm>
                <a:off x="6929710" y="3233557"/>
                <a:ext cx="264465" cy="282387"/>
              </a:xfrm>
              <a:prstGeom prst="ellipse">
                <a:avLst/>
              </a:prstGeom>
              <a:solidFill>
                <a:srgbClr val="92D050"/>
              </a:solidFill>
              <a:ln w="63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" name="Oval 142"/>
              <p:cNvSpPr/>
              <p:nvPr/>
            </p:nvSpPr>
            <p:spPr>
              <a:xfrm>
                <a:off x="7297276" y="3220570"/>
                <a:ext cx="264464" cy="282388"/>
              </a:xfrm>
              <a:prstGeom prst="ellipse">
                <a:avLst/>
              </a:prstGeom>
              <a:solidFill>
                <a:srgbClr val="92D050"/>
              </a:solidFill>
              <a:ln w="63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Oval 143"/>
              <p:cNvSpPr/>
              <p:nvPr/>
            </p:nvSpPr>
            <p:spPr>
              <a:xfrm>
                <a:off x="7664842" y="3234015"/>
                <a:ext cx="264465" cy="282387"/>
              </a:xfrm>
              <a:prstGeom prst="ellipse">
                <a:avLst/>
              </a:prstGeom>
              <a:solidFill>
                <a:srgbClr val="92D050"/>
              </a:solidFill>
              <a:ln w="63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6" name="Group 145"/>
            <p:cNvGrpSpPr/>
            <p:nvPr/>
          </p:nvGrpSpPr>
          <p:grpSpPr>
            <a:xfrm>
              <a:off x="7488893" y="5087763"/>
              <a:ext cx="632012" cy="181073"/>
              <a:chOff x="6929710" y="3220570"/>
              <a:chExt cx="999597" cy="295832"/>
            </a:xfrm>
          </p:grpSpPr>
          <p:sp>
            <p:nvSpPr>
              <p:cNvPr id="147" name="Oval 146"/>
              <p:cNvSpPr/>
              <p:nvPr/>
            </p:nvSpPr>
            <p:spPr>
              <a:xfrm>
                <a:off x="6929710" y="3233557"/>
                <a:ext cx="264465" cy="282387"/>
              </a:xfrm>
              <a:prstGeom prst="ellipse">
                <a:avLst/>
              </a:prstGeom>
              <a:solidFill>
                <a:srgbClr val="92D050"/>
              </a:solidFill>
              <a:ln w="63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Oval 147"/>
              <p:cNvSpPr/>
              <p:nvPr/>
            </p:nvSpPr>
            <p:spPr>
              <a:xfrm>
                <a:off x="7297276" y="3220570"/>
                <a:ext cx="264464" cy="282388"/>
              </a:xfrm>
              <a:prstGeom prst="ellipse">
                <a:avLst/>
              </a:prstGeom>
              <a:solidFill>
                <a:srgbClr val="92D050"/>
              </a:solidFill>
              <a:ln w="63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Oval 148"/>
              <p:cNvSpPr/>
              <p:nvPr/>
            </p:nvSpPr>
            <p:spPr>
              <a:xfrm>
                <a:off x="7664842" y="3234015"/>
                <a:ext cx="264465" cy="282387"/>
              </a:xfrm>
              <a:prstGeom prst="ellipse">
                <a:avLst/>
              </a:prstGeom>
              <a:solidFill>
                <a:srgbClr val="92D050"/>
              </a:solidFill>
              <a:ln w="63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6" name="Group 155"/>
            <p:cNvGrpSpPr/>
            <p:nvPr/>
          </p:nvGrpSpPr>
          <p:grpSpPr>
            <a:xfrm>
              <a:off x="5351929" y="5087763"/>
              <a:ext cx="632012" cy="181073"/>
              <a:chOff x="6929710" y="3220570"/>
              <a:chExt cx="999597" cy="295832"/>
            </a:xfrm>
          </p:grpSpPr>
          <p:sp>
            <p:nvSpPr>
              <p:cNvPr id="157" name="Oval 156"/>
              <p:cNvSpPr/>
              <p:nvPr/>
            </p:nvSpPr>
            <p:spPr>
              <a:xfrm>
                <a:off x="6929710" y="3233557"/>
                <a:ext cx="264465" cy="282387"/>
              </a:xfrm>
              <a:prstGeom prst="ellipse">
                <a:avLst/>
              </a:prstGeom>
              <a:solidFill>
                <a:srgbClr val="92D050"/>
              </a:solidFill>
              <a:ln w="63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Oval 157"/>
              <p:cNvSpPr/>
              <p:nvPr/>
            </p:nvSpPr>
            <p:spPr>
              <a:xfrm>
                <a:off x="7297276" y="3220570"/>
                <a:ext cx="264464" cy="282388"/>
              </a:xfrm>
              <a:prstGeom prst="ellipse">
                <a:avLst/>
              </a:prstGeom>
              <a:solidFill>
                <a:srgbClr val="92D050"/>
              </a:solidFill>
              <a:ln w="63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Oval 158"/>
              <p:cNvSpPr/>
              <p:nvPr/>
            </p:nvSpPr>
            <p:spPr>
              <a:xfrm>
                <a:off x="7664842" y="3234015"/>
                <a:ext cx="264465" cy="282387"/>
              </a:xfrm>
              <a:prstGeom prst="ellipse">
                <a:avLst/>
              </a:prstGeom>
              <a:solidFill>
                <a:srgbClr val="92D050"/>
              </a:solidFill>
              <a:ln w="63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cxnSp>
        <p:nvCxnSpPr>
          <p:cNvPr id="108" name="Straight Connector 107"/>
          <p:cNvCxnSpPr/>
          <p:nvPr/>
        </p:nvCxnSpPr>
        <p:spPr>
          <a:xfrm flipV="1">
            <a:off x="1036105" y="6198733"/>
            <a:ext cx="8798859" cy="40341"/>
          </a:xfrm>
          <a:prstGeom prst="line">
            <a:avLst/>
          </a:prstGeom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597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animBg="1"/>
      <p:bldP spid="10" grpId="0" animBg="1"/>
      <p:bldP spid="14" grpId="0" animBg="1"/>
      <p:bldP spid="18" grpId="0" animBg="1"/>
      <p:bldP spid="27" grpId="0" animBg="1"/>
      <p:bldP spid="96" grpId="0"/>
      <p:bldP spid="15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527538" y="1381724"/>
            <a:ext cx="11333040" cy="535849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txBody>
          <a:bodyPr vert="horz" wrap="square" lIns="91440" tIns="7935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34" charset="-128"/>
              </a:rPr>
              <a:t>let $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34" charset="-128"/>
              </a:rPr>
              <a:t>genLeafAndAncestorNames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34" charset="-128"/>
              </a:rPr>
              <a:t> :=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FFC000"/>
                </a:solidFill>
                <a:latin typeface="Arial Unicode MS" panose="020B0604020202020204" pitchFamily="34" charset="-128"/>
              </a:rPr>
              <a:t> </a:t>
            </a:r>
            <a:r>
              <a:rPr lang="en-US" altLang="en-US" sz="2000" dirty="0" smtClean="0">
                <a:solidFill>
                  <a:srgbClr val="FFC000"/>
                </a:solidFill>
                <a:latin typeface="Arial Unicode MS" panose="020B0604020202020204" pitchFamily="34" charset="-128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34" charset="-128"/>
              </a:rPr>
              <a:t>f:generator(initialized := true(),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FFC000"/>
                </a:solidFill>
                <a:latin typeface="Arial Unicode MS" panose="020B0604020202020204" pitchFamily="34" charset="-128"/>
              </a:rPr>
              <a:t> </a:t>
            </a:r>
            <a:r>
              <a:rPr lang="en-US" altLang="en-US" sz="2000" dirty="0" smtClean="0">
                <a:solidFill>
                  <a:srgbClr val="FFC000"/>
                </a:solidFill>
                <a:latin typeface="Arial Unicode MS" panose="020B0604020202020204" pitchFamily="34" charset="-128"/>
              </a:rPr>
              <a:t>                  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34" charset="-128"/>
              </a:rPr>
              <a:t>end-reached := false(),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FFC000"/>
                </a:solidFill>
                <a:latin typeface="Arial Unicode MS" panose="020B0604020202020204" pitchFamily="34" charset="-128"/>
              </a:rPr>
              <a:t> </a:t>
            </a:r>
            <a:r>
              <a:rPr lang="en-US" altLang="en-US" sz="2000" dirty="0" smtClean="0">
                <a:solidFill>
                  <a:srgbClr val="FFC000"/>
                </a:solidFill>
                <a:latin typeface="Arial Unicode MS" panose="020B0604020202020204" pitchFamily="34" charset="-128"/>
              </a:rPr>
              <a:t>                  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34" charset="-128"/>
              </a:rPr>
              <a:t>get-current :=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34" charset="-128"/>
              </a:rPr>
              <a:t>fn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34" charset="-128"/>
              </a:rPr>
              <a:t>($this as f:generator)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FFC000"/>
                </a:solidFill>
                <a:latin typeface="Arial Unicode MS" panose="020B0604020202020204" pitchFamily="34" charset="-128"/>
              </a:rPr>
              <a:t> </a:t>
            </a:r>
            <a:r>
              <a:rPr lang="en-US" altLang="en-US" sz="2000" dirty="0" smtClean="0">
                <a:solidFill>
                  <a:srgbClr val="FFC000"/>
                </a:solidFill>
                <a:latin typeface="Arial Unicode MS" panose="020B0604020202020204" pitchFamily="34" charset="-128"/>
              </a:rPr>
              <a:t>                                         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34" charset="-128"/>
              </a:rPr>
              <a:t>{ let $current := $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34" charset="-128"/>
              </a:rPr>
              <a:t>this?state?currentNode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34" charset="-128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FFC000"/>
                </a:solidFill>
                <a:latin typeface="Arial Unicode MS" panose="020B0604020202020204" pitchFamily="34" charset="-128"/>
              </a:rPr>
              <a:t> </a:t>
            </a:r>
            <a:r>
              <a:rPr lang="en-US" altLang="en-US" sz="2000" dirty="0" smtClean="0">
                <a:solidFill>
                  <a:srgbClr val="FFC000"/>
                </a:solidFill>
                <a:latin typeface="Arial Unicode MS" panose="020B0604020202020204" pitchFamily="34" charset="-128"/>
              </a:rPr>
              <a:t>                                            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34" charset="-128"/>
              </a:rPr>
              <a:t>return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FFC000"/>
                </a:solidFill>
                <a:latin typeface="Arial Unicode MS" panose="020B0604020202020204" pitchFamily="34" charset="-128"/>
              </a:rPr>
              <a:t> </a:t>
            </a:r>
            <a:r>
              <a:rPr lang="en-US" altLang="en-US" sz="2000" dirty="0" smtClean="0">
                <a:solidFill>
                  <a:srgbClr val="FFC000"/>
                </a:solidFill>
                <a:latin typeface="Arial Unicode MS" panose="020B0604020202020204" pitchFamily="34" charset="-128"/>
              </a:rPr>
              <a:t>                                              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34" charset="-128"/>
              </a:rPr>
              <a:t>if($current instance of document-node()) then '/'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FFC000"/>
                </a:solidFill>
                <a:latin typeface="Arial Unicode MS" panose="020B0604020202020204" pitchFamily="34" charset="-128"/>
              </a:rPr>
              <a:t> </a:t>
            </a:r>
            <a:r>
              <a:rPr lang="en-US" altLang="en-US" sz="2000" dirty="0" smtClean="0">
                <a:solidFill>
                  <a:srgbClr val="FFC000"/>
                </a:solidFill>
                <a:latin typeface="Arial Unicode MS" panose="020B0604020202020204" pitchFamily="34" charset="-128"/>
              </a:rPr>
              <a:t>                                                 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34" charset="-128"/>
              </a:rPr>
              <a:t>else $current/name()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FFC000"/>
                </a:solidFill>
                <a:latin typeface="Arial Unicode MS" panose="020B0604020202020204" pitchFamily="34" charset="-128"/>
              </a:rPr>
              <a:t> </a:t>
            </a:r>
            <a:r>
              <a:rPr lang="en-US" altLang="en-US" sz="2000" dirty="0" smtClean="0">
                <a:solidFill>
                  <a:srgbClr val="FFC000"/>
                </a:solidFill>
                <a:latin typeface="Arial Unicode MS" panose="020B0604020202020204" pitchFamily="34" charset="-128"/>
              </a:rPr>
              <a:t>                                        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34" charset="-128"/>
              </a:rPr>
              <a:t> },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FFC000"/>
                </a:solidFill>
                <a:latin typeface="Arial Unicode MS" panose="020B0604020202020204" pitchFamily="34" charset="-128"/>
              </a:rPr>
              <a:t> </a:t>
            </a:r>
            <a:r>
              <a:rPr lang="en-US" altLang="en-US" sz="2000" dirty="0" smtClean="0">
                <a:solidFill>
                  <a:srgbClr val="FFC000"/>
                </a:solidFill>
                <a:latin typeface="Arial Unicode MS" panose="020B0604020202020204" pitchFamily="34" charset="-128"/>
              </a:rPr>
              <a:t>                   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34" charset="-128"/>
              </a:rPr>
              <a:t>move-next :=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34" charset="-128"/>
              </a:rPr>
              <a:t>fn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34" charset="-128"/>
              </a:rPr>
              <a:t>($this as f:generator)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FFC000"/>
                </a:solidFill>
                <a:latin typeface="Arial Unicode MS" panose="020B0604020202020204" pitchFamily="34" charset="-128"/>
              </a:rPr>
              <a:t> </a:t>
            </a:r>
            <a:r>
              <a:rPr lang="en-US" altLang="en-US" sz="2000" dirty="0" smtClean="0">
                <a:solidFill>
                  <a:srgbClr val="FFC000"/>
                </a:solidFill>
                <a:latin typeface="Arial Unicode MS" panose="020B0604020202020204" pitchFamily="34" charset="-128"/>
              </a:rPr>
              <a:t>                                         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34" charset="-128"/>
              </a:rPr>
              <a:t> { if(empty($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34" charset="-128"/>
              </a:rPr>
              <a:t>this?state?currentNode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34" charset="-128"/>
              </a:rPr>
              <a:t>/..))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FFC000"/>
                </a:solidFill>
                <a:latin typeface="Arial Unicode MS" panose="020B0604020202020204" pitchFamily="34" charset="-128"/>
              </a:rPr>
              <a:t> </a:t>
            </a:r>
            <a:r>
              <a:rPr lang="en-US" altLang="en-US" sz="2000" dirty="0" smtClean="0">
                <a:solidFill>
                  <a:srgbClr val="FFC000"/>
                </a:solidFill>
                <a:latin typeface="Arial Unicode MS" panose="020B0604020202020204" pitchFamily="34" charset="-128"/>
              </a:rPr>
              <a:t>                                              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34" charset="-128"/>
              </a:rPr>
              <a:t>then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34" charset="-128"/>
              </a:rPr>
              <a:t>map:put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34" charset="-128"/>
              </a:rPr>
              <a:t>($this, "end-reached", true())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FFC000"/>
                </a:solidFill>
                <a:latin typeface="Arial Unicode MS" panose="020B0604020202020204" pitchFamily="34" charset="-128"/>
              </a:rPr>
              <a:t> </a:t>
            </a:r>
            <a:r>
              <a:rPr lang="en-US" altLang="en-US" sz="2000" dirty="0" smtClean="0">
                <a:solidFill>
                  <a:srgbClr val="FFC000"/>
                </a:solidFill>
                <a:latin typeface="Arial Unicode MS" panose="020B0604020202020204" pitchFamily="34" charset="-128"/>
              </a:rPr>
              <a:t>                                              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34" charset="-128"/>
              </a:rPr>
              <a:t>else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34" charset="-128"/>
              </a:rPr>
              <a:t>map:put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34" charset="-128"/>
              </a:rPr>
              <a:t>($this, "state",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FFC000"/>
                </a:solidFill>
                <a:latin typeface="Arial Unicode MS" panose="020B0604020202020204" pitchFamily="34" charset="-128"/>
              </a:rPr>
              <a:t> </a:t>
            </a:r>
            <a:r>
              <a:rPr lang="en-US" altLang="en-US" sz="2000" dirty="0" smtClean="0">
                <a:solidFill>
                  <a:srgbClr val="FFC000"/>
                </a:solidFill>
                <a:latin typeface="Arial Unicode MS" panose="020B0604020202020204" pitchFamily="34" charset="-128"/>
              </a:rPr>
              <a:t>                                                                    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34" charset="-128"/>
              </a:rPr>
              <a:t>map{"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34" charset="-128"/>
              </a:rPr>
              <a:t>currentNode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34" charset="-128"/>
              </a:rPr>
              <a:t>": $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34" charset="-128"/>
              </a:rPr>
              <a:t>this?state?currentNode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34" charset="-128"/>
              </a:rPr>
              <a:t>/..}) },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FFC000"/>
                </a:solidFill>
                <a:latin typeface="Arial Unicode MS" panose="020B0604020202020204" pitchFamily="34" charset="-128"/>
              </a:rPr>
              <a:t> </a:t>
            </a:r>
            <a:r>
              <a:rPr lang="en-US" altLang="en-US" sz="2000" dirty="0" smtClean="0">
                <a:solidFill>
                  <a:srgbClr val="FFC000"/>
                </a:solidFill>
                <a:latin typeface="Arial Unicode MS" panose="020B0604020202020204" pitchFamily="34" charset="-128"/>
              </a:rPr>
              <a:t>                  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34" charset="-128"/>
              </a:rPr>
              <a:t>state := map{"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34" charset="-128"/>
              </a:rPr>
              <a:t>currentNode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34" charset="-128"/>
              </a:rPr>
              <a:t>" : (parse-xml( '&lt;x&gt; &lt;y&gt; &lt;z/&gt; &lt;/y&gt; &lt;/x&gt;')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FFC000"/>
                </a:solidFill>
                <a:latin typeface="Arial Unicode MS" panose="020B0604020202020204" pitchFamily="34" charset="-128"/>
              </a:rPr>
              <a:t> </a:t>
            </a:r>
            <a:r>
              <a:rPr lang="en-US" altLang="en-US" sz="2000" dirty="0" smtClean="0">
                <a:solidFill>
                  <a:srgbClr val="FFC000"/>
                </a:solidFill>
                <a:latin typeface="Arial Unicode MS" panose="020B0604020202020204" pitchFamily="34" charset="-128"/>
              </a:rPr>
              <a:t>                                                                            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34" charset="-128"/>
              </a:rPr>
              <a:t>//*[not(*)] 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FFC000"/>
                </a:solidFill>
                <a:latin typeface="Arial Unicode MS" panose="020B0604020202020204" pitchFamily="34" charset="-128"/>
              </a:rPr>
              <a:t> </a:t>
            </a:r>
            <a:r>
              <a:rPr lang="en-US" altLang="en-US" sz="2000" dirty="0" smtClean="0">
                <a:solidFill>
                  <a:srgbClr val="FFC000"/>
                </a:solidFill>
                <a:latin typeface="Arial Unicode MS" panose="020B0604020202020204" pitchFamily="34" charset="-128"/>
              </a:rPr>
              <a:t>                                                                                             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Arial Unicode MS" panose="020B0604020202020204" pitchFamily="34" charset="-128"/>
              </a:rPr>
              <a:t>[1] } 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rgbClr val="FFC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7538" y="-33797"/>
            <a:ext cx="10363200" cy="914400"/>
          </a:xfrm>
        </p:spPr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4947" y="763657"/>
            <a:ext cx="10363200" cy="4572000"/>
          </a:xfrm>
        </p:spPr>
        <p:txBody>
          <a:bodyPr/>
          <a:lstStyle/>
          <a:p>
            <a:pPr marL="68580" indent="0">
              <a:buNone/>
            </a:pPr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Yield</a:t>
            </a:r>
            <a:r>
              <a:rPr lang="en-US" dirty="0" smtClean="0"/>
              <a:t>: the names of the first leaf element and its ancestors:</a:t>
            </a:r>
          </a:p>
          <a:p>
            <a:pPr marL="68580" indent="0">
              <a:buNone/>
            </a:pP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064499" y="1812169"/>
            <a:ext cx="1069367" cy="293572"/>
          </a:xfrm>
          <a:prstGeom prst="rect">
            <a:avLst/>
          </a:prstGeom>
          <a:noFill/>
          <a:ln w="476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960867" y="2105741"/>
            <a:ext cx="1513853" cy="301807"/>
          </a:xfrm>
          <a:prstGeom prst="rect">
            <a:avLst/>
          </a:prstGeom>
          <a:noFill/>
          <a:ln w="476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960867" y="5766102"/>
            <a:ext cx="660413" cy="301807"/>
          </a:xfrm>
          <a:prstGeom prst="rect">
            <a:avLst/>
          </a:prstGeom>
          <a:noFill/>
          <a:ln w="476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281395" y="5802820"/>
            <a:ext cx="4228365" cy="561404"/>
          </a:xfrm>
          <a:prstGeom prst="rect">
            <a:avLst/>
          </a:prstGeom>
          <a:noFill/>
          <a:ln w="476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960867" y="2463000"/>
            <a:ext cx="1306589" cy="260808"/>
          </a:xfrm>
          <a:prstGeom prst="rect">
            <a:avLst/>
          </a:prstGeom>
          <a:noFill/>
          <a:ln w="476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722611" y="2733774"/>
            <a:ext cx="4506989" cy="302034"/>
          </a:xfrm>
          <a:prstGeom prst="rect">
            <a:avLst/>
          </a:prstGeom>
          <a:noFill/>
          <a:ln w="476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3940563" y="3285037"/>
            <a:ext cx="5386317" cy="302034"/>
          </a:xfrm>
          <a:prstGeom prst="rect">
            <a:avLst/>
          </a:prstGeom>
          <a:noFill/>
          <a:ln w="476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4123443" y="3651276"/>
            <a:ext cx="2435853" cy="302034"/>
          </a:xfrm>
          <a:prstGeom prst="rect">
            <a:avLst/>
          </a:prstGeom>
          <a:noFill/>
          <a:ln w="476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2064499" y="4269343"/>
            <a:ext cx="1288301" cy="302034"/>
          </a:xfrm>
          <a:prstGeom prst="rect">
            <a:avLst/>
          </a:prstGeom>
          <a:noFill/>
          <a:ln w="476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3826243" y="4571376"/>
            <a:ext cx="4817885" cy="549263"/>
          </a:xfrm>
          <a:prstGeom prst="rect">
            <a:avLst/>
          </a:prstGeom>
          <a:noFill/>
          <a:ln w="476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3826242" y="5185640"/>
            <a:ext cx="7121905" cy="651138"/>
          </a:xfrm>
          <a:prstGeom prst="rect">
            <a:avLst/>
          </a:prstGeom>
          <a:noFill/>
          <a:ln w="476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 rot="20517967">
            <a:off x="530328" y="3392355"/>
            <a:ext cx="9364779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6">
                    <a:lumMod val="75000"/>
                  </a:schemeClr>
                </a:solidFill>
              </a:rPr>
              <a:t>                            Yield</a:t>
            </a:r>
            <a:r>
              <a:rPr lang="en-US" dirty="0" smtClean="0">
                <a:solidFill>
                  <a:schemeClr val="bg2"/>
                </a:solidFill>
              </a:rPr>
              <a:t>: </a:t>
            </a:r>
            <a:r>
              <a:rPr lang="en-US" sz="3200" dirty="0" smtClean="0">
                <a:solidFill>
                  <a:schemeClr val="bg2"/>
                </a:solidFill>
              </a:rPr>
              <a:t>“z”, “y”, “x”, “/”</a:t>
            </a:r>
            <a:endParaRPr lang="en-US" sz="3200" dirty="0">
              <a:solidFill>
                <a:schemeClr val="bg2"/>
              </a:solidFill>
            </a:endParaRPr>
          </a:p>
        </p:txBody>
      </p:sp>
      <p:sp>
        <p:nvSpPr>
          <p:cNvPr id="6" name="ectangle 2"/>
          <p:cNvSpPr>
            <a:spLocks noChangeArrowheads="1"/>
          </p:cNvSpPr>
          <p:nvPr/>
        </p:nvSpPr>
        <p:spPr bwMode="auto">
          <a:xfrm>
            <a:off x="9679641" y="1381724"/>
            <a:ext cx="1268506" cy="19729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square" lIns="91440" tIns="7935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 Unicode MS" panose="020B0604020202020204" pitchFamily="34" charset="-128"/>
              </a:rPr>
              <a:t>&lt;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 Unicode MS" panose="020B0604020202020204" pitchFamily="34" charset="-128"/>
              </a:rPr>
              <a:t>x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 Unicode MS" panose="020B0604020202020204" pitchFamily="34" charset="-128"/>
              </a:rPr>
              <a:t>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chemeClr val="accent1"/>
                </a:solidFill>
                <a:latin typeface="Arial Unicode MS" panose="020B0604020202020204" pitchFamily="34" charset="-128"/>
              </a:rPr>
              <a:t> </a:t>
            </a:r>
            <a:r>
              <a:rPr lang="en-US" altLang="en-US" sz="2400" dirty="0" smtClean="0">
                <a:solidFill>
                  <a:schemeClr val="accent1"/>
                </a:solidFill>
                <a:latin typeface="Arial Unicode MS" panose="020B0604020202020204" pitchFamily="34" charset="-128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 Unicode MS" panose="020B0604020202020204" pitchFamily="34" charset="-128"/>
              </a:rPr>
              <a:t>&lt;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 Unicode MS" panose="020B0604020202020204" pitchFamily="34" charset="-128"/>
              </a:rPr>
              <a:t>y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 Unicode MS" panose="020B0604020202020204" pitchFamily="34" charset="-128"/>
              </a:rPr>
              <a:t>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chemeClr val="accent1"/>
                </a:solidFill>
                <a:latin typeface="Arial Unicode MS" panose="020B0604020202020204" pitchFamily="34" charset="-128"/>
              </a:rPr>
              <a:t> </a:t>
            </a:r>
            <a:r>
              <a:rPr lang="en-US" altLang="en-US" sz="2400" dirty="0" smtClean="0">
                <a:solidFill>
                  <a:schemeClr val="accent1"/>
                </a:solidFill>
                <a:latin typeface="Arial Unicode MS" panose="020B0604020202020204" pitchFamily="34" charset="-128"/>
              </a:rPr>
              <a:t>  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 Unicode MS" panose="020B0604020202020204" pitchFamily="34" charset="-128"/>
              </a:rPr>
              <a:t>&lt;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 Unicode MS" panose="020B0604020202020204" pitchFamily="34" charset="-128"/>
              </a:rPr>
              <a:t>z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 Unicode MS" panose="020B0604020202020204" pitchFamily="34" charset="-128"/>
              </a:rPr>
              <a:t>/&gt;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chemeClr val="accent1"/>
                </a:solidFill>
                <a:latin typeface="Arial Unicode MS" panose="020B0604020202020204" pitchFamily="34" charset="-128"/>
              </a:rPr>
              <a:t> </a:t>
            </a:r>
            <a:r>
              <a:rPr lang="en-US" altLang="en-US" sz="2400" dirty="0" smtClean="0">
                <a:solidFill>
                  <a:schemeClr val="accent1"/>
                </a:solidFill>
                <a:latin typeface="Arial Unicode MS" panose="020B0604020202020204" pitchFamily="34" charset="-128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 Unicode MS" panose="020B0604020202020204" pitchFamily="34" charset="-128"/>
              </a:rPr>
              <a:t>&lt;/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 Unicode MS" panose="020B0604020202020204" pitchFamily="34" charset="-128"/>
              </a:rPr>
              <a:t>y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 Unicode MS" panose="020B0604020202020204" pitchFamily="34" charset="-128"/>
              </a:rPr>
              <a:t>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 Unicode MS" panose="020B0604020202020204" pitchFamily="34" charset="-128"/>
              </a:rPr>
              <a:t>&lt;/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 Unicode MS" panose="020B0604020202020204" pitchFamily="34" charset="-128"/>
              </a:rPr>
              <a:t>x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 Unicode MS" panose="020B0604020202020204" pitchFamily="34" charset="-128"/>
              </a:rPr>
              <a:t>&gt;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accent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2071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138" y="1135860"/>
            <a:ext cx="10363200" cy="4572000"/>
          </a:xfrm>
        </p:spPr>
        <p:txBody>
          <a:bodyPr/>
          <a:lstStyle/>
          <a:p>
            <a:pPr marL="68580" indent="0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Yield</a:t>
            </a:r>
            <a:r>
              <a:rPr lang="en-US" dirty="0"/>
              <a:t>: the </a:t>
            </a:r>
            <a:r>
              <a:rPr lang="en-US" dirty="0" smtClean="0"/>
              <a:t>Fibonacci sequence:</a:t>
            </a:r>
            <a:endParaRPr lang="en-US" dirty="0"/>
          </a:p>
          <a:p>
            <a:pPr marL="68580" indent="0">
              <a:buNone/>
            </a:pP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27538" y="-33797"/>
            <a:ext cx="10363200" cy="914400"/>
          </a:xfrm>
        </p:spPr>
        <p:txBody>
          <a:bodyPr/>
          <a:lstStyle/>
          <a:p>
            <a:r>
              <a:rPr lang="en-US" dirty="0" smtClean="0"/>
              <a:t>Example-2</a:t>
            </a:r>
            <a:endParaRPr lang="en-US" dirty="0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527538" y="1765838"/>
            <a:ext cx="11575562" cy="3204057"/>
          </a:xfrm>
          <a:prstGeom prst="rect">
            <a:avLst/>
          </a:prstGeom>
          <a:solidFill>
            <a:srgbClr val="E8EA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7935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genFibo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 := f:generator(initialized := true(), end-reached := false(),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                        get-current :=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fn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($this as f:generator)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                                         {$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this?state?current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},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                        move-next :=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fn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($this as f:generator)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                                       {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map:put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($this, "state", 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                                                map{"current": $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this?state?next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                                                    "next": $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this?state?current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                                                          + $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this?state?next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} )},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chemeClr val="bg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2000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                                   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state := map{"current": 0, "next": 1}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                      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) 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399" y="1875668"/>
            <a:ext cx="6342901" cy="321431"/>
          </a:xfrm>
          <a:prstGeom prst="rect">
            <a:avLst/>
          </a:prstGeom>
          <a:noFill/>
          <a:ln w="476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709138" y="4348919"/>
            <a:ext cx="5372100" cy="321431"/>
          </a:xfrm>
          <a:prstGeom prst="rect">
            <a:avLst/>
          </a:prstGeom>
          <a:noFill/>
          <a:ln w="476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931398" y="2844633"/>
            <a:ext cx="7854201" cy="1456735"/>
          </a:xfrm>
          <a:prstGeom prst="rect">
            <a:avLst/>
          </a:prstGeom>
          <a:noFill/>
          <a:ln w="476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931397" y="2243894"/>
            <a:ext cx="7854201" cy="600739"/>
          </a:xfrm>
          <a:prstGeom prst="rect">
            <a:avLst/>
          </a:prstGeom>
          <a:noFill/>
          <a:ln w="476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527538" y="5397500"/>
            <a:ext cx="11575562" cy="58477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6">
                    <a:lumMod val="50000"/>
                  </a:schemeClr>
                </a:solidFill>
              </a:rPr>
              <a:t>Yield</a:t>
            </a:r>
            <a:r>
              <a:rPr lang="en-US" sz="3200" dirty="0" smtClean="0"/>
              <a:t>: </a:t>
            </a:r>
            <a:r>
              <a:rPr lang="en-US" sz="3200" dirty="0" smtClean="0">
                <a:solidFill>
                  <a:srgbClr val="FFFF00"/>
                </a:solidFill>
              </a:rPr>
              <a:t>0, 1, 1, 2, 3, 5, 8, 13, 21, 34, 55, 89, 144, … </a:t>
            </a:r>
            <a:endParaRPr lang="en-US" sz="32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5426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1" y="83801"/>
            <a:ext cx="10667999" cy="914400"/>
          </a:xfrm>
        </p:spPr>
        <p:txBody>
          <a:bodyPr/>
          <a:lstStyle/>
          <a:p>
            <a:r>
              <a:rPr lang="en-US" b="1" dirty="0" smtClean="0">
                <a:solidFill>
                  <a:srgbClr val="FFC000"/>
                </a:solidFill>
              </a:rPr>
              <a:t>Functions</a:t>
            </a:r>
            <a:r>
              <a:rPr lang="en-US" dirty="0" smtClean="0">
                <a:solidFill>
                  <a:srgbClr val="FFC000"/>
                </a:solidFill>
              </a:rPr>
              <a:t> </a:t>
            </a:r>
            <a:r>
              <a:rPr lang="en-US" dirty="0" smtClean="0"/>
              <a:t>on Generators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1" y="1170102"/>
            <a:ext cx="10961224" cy="5068652"/>
          </a:xfrm>
        </p:spPr>
        <p:txBody>
          <a:bodyPr>
            <a:normAutofit fontScale="92500" lnSpcReduction="10000"/>
          </a:bodyPr>
          <a:lstStyle/>
          <a:p>
            <a:pPr marL="68580" indent="0">
              <a:buNone/>
            </a:pPr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Namespace</a:t>
            </a:r>
            <a:r>
              <a:rPr lang="en-US" dirty="0"/>
              <a:t>: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Q{http</a:t>
            </a: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://</a:t>
            </a:r>
            <a:r>
              <a:rPr lang="en-US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www.w3.org/2005/xpath-functions/generator}</a:t>
            </a:r>
          </a:p>
          <a:p>
            <a:pPr marL="68580" indent="0">
              <a:buNone/>
            </a:pPr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Categories</a:t>
            </a:r>
            <a:r>
              <a:rPr lang="en-US" dirty="0"/>
              <a:t> </a:t>
            </a:r>
            <a:r>
              <a:rPr lang="en-US" dirty="0" smtClean="0"/>
              <a:t>:</a:t>
            </a:r>
            <a:br>
              <a:rPr lang="en-US" dirty="0" smtClean="0"/>
            </a:br>
            <a:r>
              <a:rPr lang="en-US" dirty="0" smtClean="0"/>
              <a:t>  Functions producing a:</a:t>
            </a:r>
          </a:p>
          <a:p>
            <a:pPr marL="582930" indent="-514350">
              <a:buFont typeface="+mj-lt"/>
              <a:buAutoNum type="alphaLcPeriod"/>
            </a:pPr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value: </a:t>
            </a:r>
            <a:r>
              <a:rPr lang="en-US" sz="2400" dirty="0" smtClean="0">
                <a:solidFill>
                  <a:schemeClr val="accent3"/>
                </a:solidFill>
                <a:latin typeface="Consolas" panose="020B0609020204030204" pitchFamily="49" charset="0"/>
              </a:rPr>
              <a:t>item() </a:t>
            </a:r>
            <a:r>
              <a:rPr lang="en-US" sz="2600" dirty="0" smtClean="0"/>
              <a:t>or a</a:t>
            </a:r>
            <a:r>
              <a:rPr lang="en-US" sz="2400" dirty="0" smtClean="0">
                <a:solidFill>
                  <a:schemeClr val="accent3"/>
                </a:solidFill>
                <a:latin typeface="Consolas" panose="020B0609020204030204" pitchFamily="49" charset="0"/>
              </a:rPr>
              <a:t> (s, e, q, u, e, n, c, e, …)</a:t>
            </a:r>
          </a:p>
          <a:p>
            <a:pPr marL="582930" indent="-514350">
              <a:buFont typeface="+mj-lt"/>
              <a:buAutoNum type="alphaLcPeriod"/>
            </a:pPr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generator: </a:t>
            </a:r>
            <a:r>
              <a:rPr lang="en-US" dirty="0" smtClean="0">
                <a:solidFill>
                  <a:schemeClr val="accent3"/>
                </a:solidFill>
                <a:latin typeface="Consolas" panose="020B0609020204030204" pitchFamily="49" charset="0"/>
              </a:rPr>
              <a:t>$gen1</a:t>
            </a:r>
            <a:r>
              <a:rPr lang="en-US" dirty="0" smtClean="0">
                <a:solidFill>
                  <a:schemeClr val="accent3"/>
                </a:solidFill>
              </a:rPr>
              <a:t>      </a:t>
            </a:r>
            <a:r>
              <a:rPr lang="en-US" dirty="0" smtClean="0">
                <a:solidFill>
                  <a:schemeClr val="accent3"/>
                </a:solidFill>
                <a:latin typeface="Consolas" panose="020B0609020204030204" pitchFamily="49" charset="0"/>
              </a:rPr>
              <a:t>$gen2</a:t>
            </a:r>
          </a:p>
          <a:p>
            <a:pPr marL="582930" indent="-514350">
              <a:buFont typeface="+mj-lt"/>
              <a:buAutoNum type="alphaLcPeriod"/>
            </a:pPr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generator from data provider:</a:t>
            </a:r>
            <a:b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3"/>
                </a:solidFill>
                <a:latin typeface="Consolas" panose="020B0609020204030204" pitchFamily="49" charset="0"/>
              </a:rPr>
              <a:t> </a:t>
            </a:r>
            <a:r>
              <a:rPr lang="en-US" dirty="0" smtClean="0">
                <a:solidFill>
                  <a:schemeClr val="accent3"/>
                </a:solidFill>
                <a:latin typeface="Consolas" panose="020B0609020204030204" pitchFamily="49" charset="0"/>
              </a:rPr>
              <a:t>              </a:t>
            </a:r>
            <a:r>
              <a:rPr lang="en-US" sz="4800" dirty="0" smtClean="0">
                <a:solidFill>
                  <a:schemeClr val="accent3"/>
                </a:solidFill>
                <a:latin typeface="Consolas" panose="020B0609020204030204" pitchFamily="49" charset="0"/>
              </a:rPr>
              <a:t>$gen</a:t>
            </a:r>
            <a:br>
              <a:rPr lang="en-US" sz="4800" dirty="0" smtClean="0">
                <a:solidFill>
                  <a:schemeClr val="accent3"/>
                </a:solidFill>
                <a:latin typeface="Consolas" panose="020B0609020204030204" pitchFamily="49" charset="0"/>
              </a:rPr>
            </a:br>
            <a:endParaRPr lang="en-US" sz="4800" dirty="0" smtClean="0">
              <a:solidFill>
                <a:schemeClr val="accent3"/>
              </a:solidFill>
              <a:latin typeface="Consolas" panose="020B0609020204030204" pitchFamily="49" charset="0"/>
            </a:endParaRPr>
          </a:p>
          <a:p>
            <a:pPr marL="582930" indent="-514350">
              <a:buFont typeface="+mj-lt"/>
              <a:buAutoNum type="alphaLcPeriod"/>
            </a:pPr>
            <a:r>
              <a:rPr lang="en-US" dirty="0" smtClean="0">
                <a:solidFill>
                  <a:schemeClr val="accent3"/>
                </a:solidFill>
                <a:latin typeface="Consolas" panose="020B0609020204030204" pitchFamily="49" charset="0"/>
              </a:rPr>
              <a:t>Materialized yield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914401" y="2031636"/>
            <a:ext cx="10961224" cy="1"/>
          </a:xfrm>
          <a:prstGeom prst="line">
            <a:avLst/>
          </a:prstGeom>
          <a:ln w="254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ight Arrow 5"/>
          <p:cNvSpPr/>
          <p:nvPr/>
        </p:nvSpPr>
        <p:spPr>
          <a:xfrm>
            <a:off x="4375231" y="3493189"/>
            <a:ext cx="439837" cy="2112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/>
          <p:cNvGrpSpPr/>
          <p:nvPr/>
        </p:nvGrpSpPr>
        <p:grpSpPr>
          <a:xfrm>
            <a:off x="6030410" y="3337198"/>
            <a:ext cx="1747777" cy="523220"/>
            <a:chOff x="7014258" y="4452789"/>
            <a:chExt cx="1747777" cy="523220"/>
          </a:xfrm>
        </p:grpSpPr>
        <p:sp>
          <p:nvSpPr>
            <p:cNvPr id="14" name="Right Arrow 13"/>
            <p:cNvSpPr/>
            <p:nvPr/>
          </p:nvSpPr>
          <p:spPr>
            <a:xfrm>
              <a:off x="7014258" y="4618299"/>
              <a:ext cx="462988" cy="21991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488820" y="4452789"/>
              <a:ext cx="12732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accent3"/>
                  </a:solidFill>
                  <a:latin typeface="Consolas" panose="020B0609020204030204" pitchFamily="49" charset="0"/>
                </a:rPr>
                <a:t>$</a:t>
              </a:r>
              <a:r>
                <a:rPr lang="en-US" sz="2800" dirty="0" smtClean="0">
                  <a:solidFill>
                    <a:schemeClr val="accent3"/>
                  </a:solidFill>
                  <a:latin typeface="Consolas" panose="020B0609020204030204" pitchFamily="49" charset="0"/>
                </a:rPr>
                <a:t>gen3</a:t>
              </a:r>
              <a:endParaRPr lang="en-US" sz="2800" dirty="0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7720314" y="3350365"/>
            <a:ext cx="2013993" cy="523220"/>
            <a:chOff x="7720314" y="3350365"/>
            <a:chExt cx="2013993" cy="523220"/>
          </a:xfrm>
        </p:grpSpPr>
        <p:sp>
          <p:nvSpPr>
            <p:cNvPr id="18" name="Right Arrow 17"/>
            <p:cNvSpPr/>
            <p:nvPr/>
          </p:nvSpPr>
          <p:spPr>
            <a:xfrm>
              <a:off x="7720314" y="3502708"/>
              <a:ext cx="462988" cy="21991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241173" y="3350365"/>
              <a:ext cx="12732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accent3"/>
                  </a:solidFill>
                  <a:latin typeface="Consolas" panose="020B0609020204030204" pitchFamily="49" charset="0"/>
                </a:rPr>
                <a:t>$</a:t>
              </a:r>
              <a:r>
                <a:rPr lang="en-US" sz="2800" dirty="0" smtClean="0">
                  <a:solidFill>
                    <a:schemeClr val="accent3"/>
                  </a:solidFill>
                  <a:latin typeface="Consolas" panose="020B0609020204030204" pitchFamily="49" charset="0"/>
                </a:rPr>
                <a:t>gen4 </a:t>
              </a:r>
              <a:endParaRPr lang="en-US" sz="2800" dirty="0"/>
            </a:p>
          </p:txBody>
        </p:sp>
        <p:grpSp>
          <p:nvGrpSpPr>
            <p:cNvPr id="21" name="Group 20"/>
            <p:cNvGrpSpPr/>
            <p:nvPr/>
          </p:nvGrpSpPr>
          <p:grpSpPr>
            <a:xfrm>
              <a:off x="9418301" y="3573752"/>
              <a:ext cx="316006" cy="99077"/>
              <a:chOff x="6929710" y="3220570"/>
              <a:chExt cx="999597" cy="295832"/>
            </a:xfrm>
          </p:grpSpPr>
          <p:sp>
            <p:nvSpPr>
              <p:cNvPr id="22" name="Oval 21"/>
              <p:cNvSpPr/>
              <p:nvPr/>
            </p:nvSpPr>
            <p:spPr>
              <a:xfrm>
                <a:off x="6929710" y="3233557"/>
                <a:ext cx="264465" cy="282387"/>
              </a:xfrm>
              <a:prstGeom prst="ellipse">
                <a:avLst/>
              </a:prstGeom>
              <a:solidFill>
                <a:schemeClr val="tx2"/>
              </a:solidFill>
              <a:ln w="63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4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23" name="Oval 22"/>
              <p:cNvSpPr/>
              <p:nvPr/>
            </p:nvSpPr>
            <p:spPr>
              <a:xfrm>
                <a:off x="7297276" y="3220570"/>
                <a:ext cx="264464" cy="282388"/>
              </a:xfrm>
              <a:prstGeom prst="ellipse">
                <a:avLst/>
              </a:prstGeom>
              <a:solidFill>
                <a:schemeClr val="tx2"/>
              </a:solidFill>
              <a:ln w="63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/>
              <p:cNvSpPr/>
              <p:nvPr/>
            </p:nvSpPr>
            <p:spPr>
              <a:xfrm>
                <a:off x="7664842" y="3234015"/>
                <a:ext cx="264465" cy="282387"/>
              </a:xfrm>
              <a:prstGeom prst="ellipse">
                <a:avLst/>
              </a:prstGeom>
              <a:solidFill>
                <a:schemeClr val="tx2"/>
              </a:solidFill>
              <a:ln w="63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6" name="Rectangle 25"/>
          <p:cNvSpPr/>
          <p:nvPr/>
        </p:nvSpPr>
        <p:spPr>
          <a:xfrm>
            <a:off x="1006997" y="2905246"/>
            <a:ext cx="9120851" cy="2453832"/>
          </a:xfrm>
          <a:prstGeom prst="rect">
            <a:avLst/>
          </a:prstGeom>
          <a:noFill/>
          <a:ln>
            <a:solidFill>
              <a:srgbClr val="BF11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1014901" y="3872651"/>
            <a:ext cx="5658498" cy="1283031"/>
          </a:xfrm>
          <a:prstGeom prst="rect">
            <a:avLst/>
          </a:prstGeom>
          <a:noFill/>
          <a:ln>
            <a:solidFill>
              <a:srgbClr val="BF11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/>
          <p:cNvGrpSpPr/>
          <p:nvPr/>
        </p:nvGrpSpPr>
        <p:grpSpPr>
          <a:xfrm>
            <a:off x="1497946" y="4241979"/>
            <a:ext cx="2877285" cy="862985"/>
            <a:chOff x="1497946" y="4241979"/>
            <a:chExt cx="2877285" cy="862985"/>
          </a:xfrm>
        </p:grpSpPr>
        <p:sp>
          <p:nvSpPr>
            <p:cNvPr id="10" name="Right Arrow 9"/>
            <p:cNvSpPr/>
            <p:nvPr/>
          </p:nvSpPr>
          <p:spPr>
            <a:xfrm flipV="1">
              <a:off x="3401513" y="4408526"/>
              <a:ext cx="973718" cy="429691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9" name="Picture 2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7946" y="4241979"/>
              <a:ext cx="1582138" cy="862985"/>
            </a:xfrm>
            <a:prstGeom prst="rect">
              <a:avLst/>
            </a:prstGeom>
          </p:spPr>
        </p:pic>
      </p:grpSp>
      <p:sp>
        <p:nvSpPr>
          <p:cNvPr id="5" name="TextBox 4"/>
          <p:cNvSpPr txBox="1"/>
          <p:nvPr/>
        </p:nvSpPr>
        <p:spPr>
          <a:xfrm>
            <a:off x="7795146" y="3750141"/>
            <a:ext cx="3794715" cy="92333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Deferred Evaluation</a:t>
            </a:r>
            <a:r>
              <a:rPr lang="en-US" dirty="0" smtClean="0"/>
              <a:t>:</a:t>
            </a:r>
            <a:br>
              <a:rPr lang="en-US" dirty="0" smtClean="0"/>
            </a:br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Never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 need/use/materialize </a:t>
            </a:r>
            <a:b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the complete yield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6618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6" grpId="0" animBg="1"/>
      <p:bldP spid="27" grpId="0" animBg="1"/>
      <p:bldP spid="27" grpId="1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0"/>
            <a:ext cx="10363200" cy="914400"/>
          </a:xfrm>
        </p:spPr>
        <p:txBody>
          <a:bodyPr/>
          <a:lstStyle/>
          <a:p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Functions producing a value</a:t>
            </a:r>
            <a:r>
              <a:rPr lang="en-US" dirty="0" smtClean="0"/>
              <a:t>: item() or (…)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3736860"/>
              </p:ext>
            </p:extLst>
          </p:nvPr>
        </p:nvGraphicFramePr>
        <p:xfrm>
          <a:off x="1219200" y="914400"/>
          <a:ext cx="10363200" cy="569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2263"/>
                <a:gridCol w="841093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Function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Produces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Consolas" panose="020B0609020204030204" pitchFamily="49" charset="0"/>
                        </a:rPr>
                        <a:t>gn:at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 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$k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kumimoji="0" lang="en-US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value from the yield of the 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$generator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Consolas" panose="020B0609020204030204" pitchFamily="49" charset="0"/>
                        </a:rPr>
                        <a:t>gn:contains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nsolas" panose="020B0609020204030204" pitchFamily="49" charset="0"/>
                        </a:rPr>
                        <a:t>true()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if the 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$value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is contained in the yield of the generator, and</a:t>
                      </a:r>
                      <a:r>
                        <a:rPr kumimoji="0" lang="en-US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false()</a:t>
                      </a:r>
                      <a:r>
                        <a:rPr kumimoji="0" lang="en-US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otherwise.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b="0" i="0" kern="1200" dirty="0" err="1" smtClean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gn:first-where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first 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$value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in the yield of the generator for which 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$predicate($value) 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is 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true(). </a:t>
                      </a:r>
                      <a:r>
                        <a:rPr lang="en-US" dirty="0" smtClean="0">
                          <a:latin typeface="+mn-lt"/>
                        </a:rPr>
                        <a:t>Error if none.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b="0" i="0" kern="1200" dirty="0" err="1" smtClean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gn:fold-left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Processes the values of the yield of the generator, applying the supplied function repeatedly to each value in turn, together with an accumulated result value.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b="0" i="0" kern="1200" dirty="0" err="1" smtClean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gn:fold-right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Like </a:t>
                      </a:r>
                      <a:r>
                        <a:rPr kumimoji="0" lang="en-US" b="0" i="0" kern="1200" dirty="0" err="1" smtClean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gn:fold-left</a:t>
                      </a:r>
                      <a:r>
                        <a:rPr lang="en-US" dirty="0" smtClean="0"/>
                        <a:t> but from right to left.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b="0" i="0" kern="1200" dirty="0" err="1" smtClean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gn:fold-lazy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Same result as </a:t>
                      </a:r>
                      <a:r>
                        <a:rPr lang="en-US" dirty="0" err="1" smtClean="0">
                          <a:latin typeface="Consolas" panose="020B0609020204030204" pitchFamily="49" charset="0"/>
                        </a:rPr>
                        <a:t>gn:fold-right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on the entire yield of the 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$generator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with the operation specified by 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$action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but also </a:t>
                      </a:r>
                      <a:r>
                        <a:rPr kumimoji="0" lang="en-US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performs short-circuiting 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 detected by the supplied 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$short-circuit-detector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function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b="0" i="0" kern="1200" dirty="0" err="1" smtClean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gn:head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Produces the first value contained in the yield of the 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$generator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b="0" i="0" kern="1200" dirty="0" err="1" smtClean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gn:some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nsolas" panose="020B0609020204030204" pitchFamily="49" charset="0"/>
                        </a:rPr>
                        <a:t>true()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if and only if the generator is initialized not empty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b="0" i="0" kern="1200" dirty="0" err="1" smtClean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gn:some-where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nsolas" panose="020B0609020204030204" pitchFamily="49" charset="0"/>
                        </a:rPr>
                        <a:t>true()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if the generator is initialized and its yield contains any value upon which evaluating the supplied 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$predicate 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 </a:t>
                      </a:r>
                      <a:r>
                        <a:rPr lang="en-US" dirty="0" smtClean="0"/>
                        <a:t>true()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b="0" i="0" kern="1200" dirty="0" err="1" smtClean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gn:value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yield value for this generator-instance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219200" y="2935604"/>
            <a:ext cx="1939636" cy="633846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219200" y="6234544"/>
            <a:ext cx="1939636" cy="379616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29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0"/>
            <a:ext cx="10363200" cy="914400"/>
          </a:xfrm>
        </p:spPr>
        <p:txBody>
          <a:bodyPr/>
          <a:lstStyle/>
          <a:p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Functions producing a </a:t>
            </a:r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Generator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8179782"/>
              </p:ext>
            </p:extLst>
          </p:nvPr>
        </p:nvGraphicFramePr>
        <p:xfrm>
          <a:off x="1219200" y="799456"/>
          <a:ext cx="10575403" cy="540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0770"/>
                <a:gridCol w="885463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Function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Produces a generator …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b="0" i="0" kern="1200" dirty="0" err="1" smtClean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gn:chunk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Each of whose yield values is a "chunk" of consecutive values of the yield of the supplied 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$generator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held in an array of size 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$size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except that the size of the last "chunk" could be smaller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b="0" i="0" kern="1200" dirty="0" err="1" smtClean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gn:concat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Whose yield consists of the yield of 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$generator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followed by the yield</a:t>
                      </a:r>
                      <a:r>
                        <a:rPr kumimoji="0" lang="en-US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</a:t>
                      </a:r>
                      <a:r>
                        <a:rPr kumimoji="0" lang="en-US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$generator2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b="0" i="0" kern="1200" dirty="0" err="1" smtClean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gn:distinct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Whose yield contains only the distinct values from the original generator, in order.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b="0" i="0" kern="1200" dirty="0" err="1" smtClean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gn:filter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Whose yield contains the values from the original generator’s yield upon which the supplied predicate returns 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true()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in their original order.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b="0" i="0" kern="1200" dirty="0" err="1" smtClean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gn:for-each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 whose yield each value is the result of applying the function item 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$action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on the respective value of the yield of the original 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$generator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in their original order.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b="0" i="0" kern="1200" dirty="0" err="1" smtClean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gn:for-each-pair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 whose yield of each value is the result of applying the function item 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$action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on the respective values of the yields of 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$generator1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and 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$generator2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in their original order.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b="0" i="0" kern="1200" dirty="0" err="1" smtClean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gn:insert-at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Whose yield contains the first 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$position - 1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values of the yield of 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$generator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followed by the supplied 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$value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followed by all the values of the yield of 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$generator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starting from position 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$position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219200" y="3107161"/>
            <a:ext cx="1702130" cy="394855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219200" y="3793951"/>
            <a:ext cx="1702130" cy="394855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430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0"/>
            <a:ext cx="10363200" cy="810228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Functions producing a </a:t>
            </a:r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Generator - 2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8201761"/>
              </p:ext>
            </p:extLst>
          </p:nvPr>
        </p:nvGraphicFramePr>
        <p:xfrm>
          <a:off x="1219200" y="705453"/>
          <a:ext cx="10644851" cy="576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4228"/>
                <a:gridCol w="8310623"/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Produces a generator that …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b="0" i="0" kern="1200" dirty="0" err="1" smtClean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gn:merge-sorted-generators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Has a yield of sorted values from a generator each of whose yield values is itself a generator that</a:t>
                      </a:r>
                      <a:r>
                        <a:rPr kumimoji="0" lang="en-US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has a yield with sorted values.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b="0" i="0" kern="1200" dirty="0" err="1" smtClean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gn:next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next-state generator-instance obtained from the current generator-instance 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$generator.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b="0" i="0" kern="1200" dirty="0" err="1" smtClean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gn:remove-at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Whose yield is the result of removing the 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$</a:t>
                      </a:r>
                      <a:r>
                        <a:rPr lang="en-US" dirty="0" err="1" smtClean="0">
                          <a:latin typeface="Consolas" panose="020B0609020204030204" pitchFamily="49" charset="0"/>
                        </a:rPr>
                        <a:t>position</a:t>
                      </a:r>
                      <a:r>
                        <a:rPr kumimoji="0" lang="en-US" b="0" i="0" kern="1200" baseline="-25000" dirty="0" err="1" smtClean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th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value from the yield of the supplied 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$generator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b="0" i="0" kern="1200" dirty="0" err="1" smtClean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gn:remove-where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Whose yield is the result of removing from the yield of the supplied 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$generator 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all values upon which the supplied 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$predicate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is 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true()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b="0" i="0" kern="1200" dirty="0" err="1" smtClean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gn:replace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Whose yield is the result of replacing in the yield of the supplied 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$generator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the first value upon which the application of the supplied 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$predicate 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true() 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with the supplied 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$replacement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b="0" i="0" kern="1200" dirty="0" err="1" smtClean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gn:reverse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Whose yield’s values  are the from the yield of the supplied 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$generator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but in reverse order.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b="0" i="0" kern="1200" dirty="0" err="1" smtClean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gn:scan-left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Whose yield is the partial results of the evaluation of  </a:t>
                      </a:r>
                      <a:r>
                        <a:rPr lang="en-US" dirty="0" err="1" smtClean="0">
                          <a:latin typeface="Consolas" panose="020B0609020204030204" pitchFamily="49" charset="0"/>
                        </a:rPr>
                        <a:t>gn:fold-left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with the same arguments.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b="0" i="0" kern="1200" dirty="0" err="1" smtClean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gn:scan-right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Whose yield contains the partial results of the evaluation of </a:t>
                      </a:r>
                      <a:r>
                        <a:rPr lang="en-US" dirty="0" err="1" smtClean="0">
                          <a:latin typeface="Consolas" panose="020B0609020204030204" pitchFamily="49" charset="0"/>
                        </a:rPr>
                        <a:t>gn:fold-right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with the same arguments.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219200" y="1120826"/>
            <a:ext cx="2331522" cy="577345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189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0"/>
            <a:ext cx="10363200" cy="810228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Functions producing a </a:t>
            </a:r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Generator - 3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5196934"/>
              </p:ext>
            </p:extLst>
          </p:nvPr>
        </p:nvGraphicFramePr>
        <p:xfrm>
          <a:off x="1219200" y="835025"/>
          <a:ext cx="10679114" cy="576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3838"/>
                <a:gridCol w="8715276"/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Produces a generator that …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b="0" i="0" kern="1200" dirty="0" err="1" smtClean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gn:skip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Whose yield contains only the values of the yield of the supplied 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$generator 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after the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$n</a:t>
                      </a:r>
                      <a:r>
                        <a:rPr kumimoji="0" lang="en-US" b="0" i="0" kern="1200" baseline="-25000" dirty="0" smtClean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th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one, and in their original order.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b="0" i="0" kern="1200" dirty="0" err="1" smtClean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gn:skip-strict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Like the one from </a:t>
                      </a:r>
                      <a:r>
                        <a:rPr kumimoji="0" lang="en-US" b="0" i="0" kern="1200" dirty="0" err="1" smtClean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gn:skip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en-US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If 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supplied </a:t>
                      </a:r>
                      <a:r>
                        <a:rPr lang="en-US" dirty="0" smtClean="0"/>
                        <a:t>$generator’s 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yield contains less than 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$n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values, and 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$raise-error-on-empty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is 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true()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then an error is raised.</a:t>
                      </a:r>
                      <a:endParaRPr lang="en-US" dirty="0" smtClean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b="0" i="0" kern="1200" dirty="0" err="1" smtClean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gn:skip-while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Whose yield is the supplied 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$generator</a:t>
                      </a:r>
                      <a:r>
                        <a:rPr lang="en-US" dirty="0" smtClean="0"/>
                        <a:t>’s 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yield, having removed the longest leading segment of values on which the supplied 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$predicate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returns 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true()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b="0" i="0" kern="1200" dirty="0" err="1" smtClean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gn:subrange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Whose yield is the values of the original 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$generator</a:t>
                      </a:r>
                      <a:r>
                        <a:rPr lang="en-US" dirty="0" smtClean="0"/>
                        <a:t>’s 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yield from position</a:t>
                      </a:r>
                      <a:r>
                        <a:rPr kumimoji="0" lang="en-US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$start 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position 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$end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in their original order.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b="0" i="0" kern="1200" dirty="0" err="1" smtClean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gn:tail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Whose yield has all but the first values from the yield of the </a:t>
                      </a:r>
                      <a:r>
                        <a:rPr lang="en-US" dirty="0" smtClean="0"/>
                        <a:t>original 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$generator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or raises an error if the supplied generator's yield is empty.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b="0" i="0" kern="1200" dirty="0" err="1" smtClean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gn:take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Whose yield is the leading segment with length </a:t>
                      </a:r>
                      <a:r>
                        <a:rPr lang="en-US" dirty="0" smtClean="0"/>
                        <a:t>$n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from the original 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$generator</a:t>
                      </a:r>
                      <a:r>
                        <a:rPr lang="en-US" dirty="0" smtClean="0"/>
                        <a:t>’s yield. If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the supplied generator's yield length is less than 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$n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then the result is a generator that has exactly the supplied generator's yield.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b="0" i="0" kern="1200" dirty="0" err="1" smtClean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gn:take-while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Whose yield is the longest leading segment from the original 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$generator</a:t>
                      </a:r>
                      <a:r>
                        <a:rPr lang="en-US" dirty="0" smtClean="0"/>
                        <a:t>’s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yield on all of whose values the provided function 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$predicate</a:t>
                      </a:r>
                      <a:r>
                        <a:rPr lang="en-US" dirty="0" smtClean="0"/>
                        <a:t> 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</a:t>
                      </a:r>
                      <a:r>
                        <a:rPr lang="en-US" dirty="0" smtClean="0">
                          <a:latin typeface="Consolas" panose="020B0609020204030204" pitchFamily="49" charset="0"/>
                        </a:rPr>
                        <a:t>true()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b="0" i="0" kern="1200" dirty="0" err="1" smtClean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gn:zip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 </a:t>
                      </a:r>
                      <a:r>
                        <a:rPr lang="en-US" dirty="0" smtClean="0"/>
                        <a:t>k</a:t>
                      </a:r>
                      <a:r>
                        <a:rPr kumimoji="0" lang="en-US" b="0" i="0" kern="1200" baseline="-250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value of whose yield is a two-members array with the </a:t>
                      </a:r>
                      <a:r>
                        <a:rPr lang="en-US" dirty="0" smtClean="0"/>
                        <a:t>k</a:t>
                      </a:r>
                      <a:r>
                        <a:rPr kumimoji="0" lang="en-US" b="0" i="0" kern="1200" baseline="-250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value of </a:t>
                      </a:r>
                      <a:r>
                        <a:rPr lang="en-US" dirty="0" smtClean="0"/>
                        <a:t>$generator1’s 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 </a:t>
                      </a:r>
                      <a:r>
                        <a:rPr lang="en-US" dirty="0" smtClean="0"/>
                        <a:t>$generator2’s </a:t>
                      </a:r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yield of </a:t>
                      </a:r>
                      <a:r>
                        <a:rPr lang="en-US" dirty="0" smtClean="0"/>
                        <a:t>$generator2.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219200" y="3164278"/>
            <a:ext cx="1939636" cy="394855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219200" y="4364099"/>
            <a:ext cx="1939636" cy="1006391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43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395" y="95374"/>
            <a:ext cx="11516810" cy="914400"/>
          </a:xfrm>
        </p:spPr>
        <p:txBody>
          <a:bodyPr/>
          <a:lstStyle/>
          <a:p>
            <a:r>
              <a:rPr lang="en-US" sz="3800" dirty="0">
                <a:solidFill>
                  <a:schemeClr val="accent5">
                    <a:lumMod val="75000"/>
                  </a:schemeClr>
                </a:solidFill>
              </a:rPr>
              <a:t>Functions producing a </a:t>
            </a:r>
            <a:r>
              <a:rPr lang="en-US" sz="3800" dirty="0" smtClean="0">
                <a:solidFill>
                  <a:schemeClr val="accent5">
                    <a:lumMod val="75000"/>
                  </a:schemeClr>
                </a:solidFill>
              </a:rPr>
              <a:t>generator</a:t>
            </a:r>
            <a:r>
              <a:rPr lang="en-US" sz="3800" dirty="0" smtClean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3800" dirty="0" smtClean="0">
                <a:solidFill>
                  <a:schemeClr val="accent5">
                    <a:lumMod val="75000"/>
                  </a:schemeClr>
                </a:solidFill>
              </a:rPr>
              <a:t>from a </a:t>
            </a:r>
            <a:r>
              <a:rPr lang="en-US" sz="3800" dirty="0" smtClean="0">
                <a:solidFill>
                  <a:schemeClr val="accent3">
                    <a:lumMod val="75000"/>
                  </a:schemeClr>
                </a:solidFill>
              </a:rPr>
              <a:t>Data-Provider</a:t>
            </a:r>
            <a:endParaRPr lang="en-US" sz="38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395" y="1045557"/>
            <a:ext cx="10940005" cy="5204772"/>
          </a:xfrm>
        </p:spPr>
        <p:txBody>
          <a:bodyPr/>
          <a:lstStyle/>
          <a:p>
            <a:pPr marL="68580" indent="0">
              <a:buNone/>
            </a:pPr>
            <a:r>
              <a:rPr lang="en-US" dirty="0" smtClean="0">
                <a:solidFill>
                  <a:srgbClr val="FFC000"/>
                </a:solidFill>
              </a:rPr>
              <a:t>Data provider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-  a function that:</a:t>
            </a:r>
          </a:p>
          <a:p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p</a:t>
            </a:r>
            <a:r>
              <a:rPr lang="en-US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roduces the yield-value for a generator-instance</a:t>
            </a:r>
          </a:p>
          <a:p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</a:t>
            </a:r>
            <a:r>
              <a:rPr lang="en-US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an access external systems: databases, web-services, files</a:t>
            </a:r>
          </a:p>
          <a:p>
            <a:r>
              <a:rPr lang="en-US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can provide real-time data</a:t>
            </a:r>
            <a:endParaRPr lang="en-US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5798" y="3213553"/>
            <a:ext cx="6348714" cy="3036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306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834723"/>
            <a:ext cx="10363200" cy="914400"/>
          </a:xfrm>
        </p:spPr>
        <p:txBody>
          <a:bodyPr/>
          <a:lstStyle/>
          <a:p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Provider Function </a:t>
            </a:r>
            <a:r>
              <a:rPr lang="en-US" b="1" dirty="0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Contract</a:t>
            </a:r>
            <a:endParaRPr lang="en-US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771985"/>
            <a:ext cx="10363200" cy="4572000"/>
          </a:xfrm>
        </p:spPr>
        <p:txBody>
          <a:bodyPr/>
          <a:lstStyle/>
          <a:p>
            <a:pPr marL="68580" indent="0">
              <a:buNone/>
            </a:pPr>
            <a:r>
              <a:rPr lang="en-US" dirty="0" smtClean="0">
                <a:solidFill>
                  <a:srgbClr val="FFC000"/>
                </a:solidFill>
                <a:latin typeface="Consolas" panose="020B0609020204030204" pitchFamily="49" charset="0"/>
              </a:rPr>
              <a:t>$provider($</a:t>
            </a:r>
            <a:r>
              <a:rPr lang="en-US" dirty="0" smtClean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</a:rPr>
              <a:t>state</a:t>
            </a:r>
            <a:r>
              <a:rPr lang="en-US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as array(*)) as array(*)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3229337" y="2448343"/>
            <a:ext cx="6910086" cy="400110"/>
            <a:chOff x="1319514" y="2494642"/>
            <a:chExt cx="3020992" cy="400110"/>
          </a:xfrm>
          <a:solidFill>
            <a:schemeClr val="bg1">
              <a:lumMod val="85000"/>
              <a:lumOff val="15000"/>
            </a:schemeClr>
          </a:solidFill>
        </p:grpSpPr>
        <p:sp>
          <p:nvSpPr>
            <p:cNvPr id="4" name="TextBox 3"/>
            <p:cNvSpPr txBox="1"/>
            <p:nvPr/>
          </p:nvSpPr>
          <p:spPr>
            <a:xfrm>
              <a:off x="1319514" y="2494642"/>
              <a:ext cx="3020992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  </a:t>
              </a:r>
              <a:r>
                <a:rPr lang="en-US" sz="2000" b="1" dirty="0" smtClean="0">
                  <a:solidFill>
                    <a:schemeClr val="bg2">
                      <a:lumMod val="40000"/>
                      <a:lumOff val="60000"/>
                    </a:schemeClr>
                  </a:solidFill>
                </a:rPr>
                <a:t>[</a:t>
              </a:r>
              <a:r>
                <a:rPr lang="en-US" sz="2000" b="1" dirty="0" smtClean="0"/>
                <a:t>      </a:t>
              </a:r>
              <a:r>
                <a:rPr lang="en-US" sz="2000" b="1" dirty="0" smtClean="0">
                  <a:solidFill>
                    <a:schemeClr val="accent5">
                      <a:lumMod val="50000"/>
                    </a:schemeClr>
                  </a:solidFill>
                </a:rPr>
                <a:t>… </a:t>
              </a:r>
              <a:r>
                <a:rPr lang="en-US" sz="2000" b="1" dirty="0" smtClean="0"/>
                <a:t>       </a:t>
              </a:r>
              <a:r>
                <a:rPr lang="en-US" sz="2000" dirty="0" smtClean="0">
                  <a:solidFill>
                    <a:schemeClr val="bg2">
                      <a:lumMod val="40000"/>
                      <a:lumOff val="60000"/>
                    </a:schemeClr>
                  </a:solidFill>
                </a:rPr>
                <a:t>]</a:t>
              </a:r>
              <a:r>
                <a:rPr lang="en-US" sz="2000" dirty="0" smtClean="0"/>
                <a:t>                                                  </a:t>
              </a:r>
              <a:r>
                <a:rPr lang="en-US" sz="2000" b="1" dirty="0" smtClean="0">
                  <a:solidFill>
                    <a:schemeClr val="bg2">
                      <a:lumMod val="40000"/>
                      <a:lumOff val="60000"/>
                    </a:schemeClr>
                  </a:solidFill>
                </a:rPr>
                <a:t>[  [</a:t>
              </a:r>
              <a:r>
                <a:rPr lang="en-US" sz="2000" b="1" dirty="0" smtClean="0">
                  <a:solidFill>
                    <a:schemeClr val="accent5">
                      <a:lumMod val="50000"/>
                    </a:schemeClr>
                  </a:solidFill>
                </a:rPr>
                <a:t>…</a:t>
              </a:r>
              <a:r>
                <a:rPr lang="en-US" sz="2000" b="1" dirty="0" smtClean="0">
                  <a:solidFill>
                    <a:schemeClr val="bg2">
                      <a:lumMod val="40000"/>
                      <a:lumOff val="60000"/>
                    </a:schemeClr>
                  </a:solidFill>
                </a:rPr>
                <a:t>]</a:t>
              </a:r>
              <a:r>
                <a:rPr lang="en-US" sz="2000" b="1" dirty="0" smtClean="0"/>
                <a:t>,  </a:t>
              </a:r>
              <a:r>
                <a:rPr lang="en-US" sz="2000" b="1" dirty="0" smtClean="0">
                  <a:solidFill>
                    <a:schemeClr val="bg2">
                      <a:lumMod val="40000"/>
                      <a:lumOff val="60000"/>
                    </a:schemeClr>
                  </a:solidFill>
                </a:rPr>
                <a:t>[…]  ]</a:t>
              </a:r>
              <a:endParaRPr lang="en-US" sz="2000" b="1" dirty="0">
                <a:solidFill>
                  <a:schemeClr val="bg2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5" name="Right Arrow 4"/>
            <p:cNvSpPr/>
            <p:nvPr/>
          </p:nvSpPr>
          <p:spPr>
            <a:xfrm>
              <a:off x="2491901" y="2553056"/>
              <a:ext cx="428263" cy="283281"/>
            </a:xfrm>
            <a:prstGeom prst="rightArrow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428527" y="2848454"/>
            <a:ext cx="3271336" cy="1578863"/>
            <a:chOff x="5428527" y="2848454"/>
            <a:chExt cx="3271336" cy="1441929"/>
          </a:xfrm>
        </p:grpSpPr>
        <p:sp>
          <p:nvSpPr>
            <p:cNvPr id="7" name="TextBox 6"/>
            <p:cNvSpPr txBox="1"/>
            <p:nvPr/>
          </p:nvSpPr>
          <p:spPr>
            <a:xfrm>
              <a:off x="5428527" y="3953083"/>
              <a:ext cx="1724628" cy="33730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tx1">
                      <a:lumMod val="95000"/>
                    </a:schemeClr>
                  </a:solidFill>
                </a:rPr>
                <a:t>Next State</a:t>
              </a:r>
              <a:endParaRPr lang="en-US" dirty="0">
                <a:solidFill>
                  <a:schemeClr val="tx1">
                    <a:lumMod val="95000"/>
                  </a:schemeClr>
                </a:solidFill>
              </a:endParaRPr>
            </a:p>
          </p:txBody>
        </p:sp>
        <p:cxnSp>
          <p:nvCxnSpPr>
            <p:cNvPr id="9" name="Straight Arrow Connector 8"/>
            <p:cNvCxnSpPr/>
            <p:nvPr/>
          </p:nvCxnSpPr>
          <p:spPr>
            <a:xfrm flipV="1">
              <a:off x="7153155" y="2848454"/>
              <a:ext cx="1546708" cy="1083750"/>
            </a:xfrm>
            <a:prstGeom prst="straightConnector1">
              <a:avLst/>
            </a:prstGeom>
            <a:ln w="254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910322" y="2848453"/>
            <a:ext cx="3075228" cy="1671197"/>
            <a:chOff x="5428527" y="2848453"/>
            <a:chExt cx="3075228" cy="1671197"/>
          </a:xfrm>
        </p:grpSpPr>
        <p:sp>
          <p:nvSpPr>
            <p:cNvPr id="16" name="TextBox 15"/>
            <p:cNvSpPr txBox="1"/>
            <p:nvPr/>
          </p:nvSpPr>
          <p:spPr>
            <a:xfrm>
              <a:off x="5428527" y="3873319"/>
              <a:ext cx="2133324" cy="646331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tx1">
                      <a:lumMod val="95000"/>
                    </a:schemeClr>
                  </a:solidFill>
                </a:rPr>
                <a:t>Input State, </a:t>
              </a:r>
              <a:br>
                <a:rPr lang="en-US" dirty="0" smtClean="0">
                  <a:solidFill>
                    <a:schemeClr val="tx1">
                      <a:lumMod val="95000"/>
                    </a:schemeClr>
                  </a:solidFill>
                </a:rPr>
              </a:br>
              <a:r>
                <a:rPr lang="en-US" b="1" dirty="0" smtClean="0">
                  <a:solidFill>
                    <a:schemeClr val="tx2">
                      <a:lumMod val="50000"/>
                    </a:schemeClr>
                  </a:solidFill>
                </a:rPr>
                <a:t>[ ]</a:t>
              </a:r>
              <a:r>
                <a:rPr lang="en-US" dirty="0" smtClean="0">
                  <a:solidFill>
                    <a:schemeClr val="tx1">
                      <a:lumMod val="95000"/>
                    </a:schemeClr>
                  </a:solidFill>
                </a:rPr>
                <a:t> means “initial”</a:t>
              </a:r>
              <a:endParaRPr lang="en-US" dirty="0">
                <a:solidFill>
                  <a:schemeClr val="tx1">
                    <a:lumMod val="95000"/>
                  </a:schemeClr>
                </a:solidFill>
              </a:endParaRPr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 flipV="1">
              <a:off x="7561851" y="2848453"/>
              <a:ext cx="941904" cy="1024866"/>
            </a:xfrm>
            <a:prstGeom prst="straightConnector1">
              <a:avLst/>
            </a:prstGeom>
            <a:ln w="254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8471609" y="2808839"/>
            <a:ext cx="2513945" cy="1852438"/>
            <a:chOff x="5342807" y="2590459"/>
            <a:chExt cx="2513945" cy="1788970"/>
          </a:xfrm>
        </p:grpSpPr>
        <p:sp>
          <p:nvSpPr>
            <p:cNvPr id="25" name="TextBox 24"/>
            <p:cNvSpPr txBox="1"/>
            <p:nvPr/>
          </p:nvSpPr>
          <p:spPr>
            <a:xfrm>
              <a:off x="5342807" y="3755243"/>
              <a:ext cx="2513945" cy="62418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tx1">
                      <a:lumMod val="95000"/>
                    </a:schemeClr>
                  </a:solidFill>
                </a:rPr>
                <a:t>Result-data,</a:t>
              </a:r>
              <a:br>
                <a:rPr lang="en-US" dirty="0" smtClean="0">
                  <a:solidFill>
                    <a:schemeClr val="tx1">
                      <a:lumMod val="95000"/>
                    </a:schemeClr>
                  </a:solidFill>
                </a:rPr>
              </a:br>
              <a:r>
                <a:rPr lang="en-US" b="1" dirty="0">
                  <a:solidFill>
                    <a:schemeClr val="tx2">
                      <a:lumMod val="50000"/>
                    </a:schemeClr>
                  </a:solidFill>
                </a:rPr>
                <a:t>[ ]</a:t>
              </a:r>
              <a:r>
                <a:rPr lang="en-US" dirty="0" smtClean="0">
                  <a:solidFill>
                    <a:schemeClr val="tx1">
                      <a:lumMod val="95000"/>
                    </a:schemeClr>
                  </a:solidFill>
                </a:rPr>
                <a:t> </a:t>
              </a:r>
              <a:r>
                <a:rPr lang="en-US" dirty="0">
                  <a:solidFill>
                    <a:schemeClr val="tx1">
                      <a:lumMod val="95000"/>
                    </a:schemeClr>
                  </a:solidFill>
                </a:rPr>
                <a:t>means </a:t>
              </a:r>
              <a:r>
                <a:rPr lang="en-US" dirty="0" smtClean="0">
                  <a:solidFill>
                    <a:schemeClr val="tx1">
                      <a:lumMod val="95000"/>
                    </a:schemeClr>
                  </a:solidFill>
                </a:rPr>
                <a:t>“end of data”</a:t>
              </a:r>
              <a:endParaRPr lang="en-US" dirty="0">
                <a:solidFill>
                  <a:schemeClr val="tx1">
                    <a:lumMod val="95000"/>
                  </a:schemeClr>
                </a:solidFill>
              </a:endParaRPr>
            </a:p>
          </p:txBody>
        </p:sp>
        <p:cxnSp>
          <p:nvCxnSpPr>
            <p:cNvPr id="26" name="Straight Arrow Connector 25"/>
            <p:cNvCxnSpPr>
              <a:stCxn id="25" idx="0"/>
            </p:cNvCxnSpPr>
            <p:nvPr/>
          </p:nvCxnSpPr>
          <p:spPr>
            <a:xfrm flipH="1" flipV="1">
              <a:off x="6284711" y="2590459"/>
              <a:ext cx="315069" cy="1164783"/>
            </a:xfrm>
            <a:prstGeom prst="straightConnector1">
              <a:avLst/>
            </a:prstGeom>
            <a:ln w="254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" name="Straight Arrow Connector 9"/>
          <p:cNvCxnSpPr/>
          <p:nvPr/>
        </p:nvCxnSpPr>
        <p:spPr>
          <a:xfrm flipH="1" flipV="1">
            <a:off x="4270618" y="2848453"/>
            <a:ext cx="1157909" cy="118667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91723" y="4938038"/>
            <a:ext cx="3185313" cy="64633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5">
                    <a:lumMod val="50000"/>
                  </a:schemeClr>
                </a:solidFill>
              </a:rPr>
              <a:t>Separates the computation from the data-source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71609" y="5318115"/>
            <a:ext cx="3185313" cy="147732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C000"/>
                </a:solidFill>
              </a:rPr>
              <a:t>Same code works with: </a:t>
            </a:r>
            <a:br>
              <a:rPr lang="en-US" dirty="0" smtClean="0">
                <a:solidFill>
                  <a:srgbClr val="FFC000"/>
                </a:solidFill>
              </a:rPr>
            </a:br>
            <a:r>
              <a:rPr lang="en-US" dirty="0" smtClean="0">
                <a:solidFill>
                  <a:srgbClr val="FFC000"/>
                </a:solidFill>
              </a:rPr>
              <a:t> - in-memory data</a:t>
            </a:r>
            <a:br>
              <a:rPr lang="en-US" dirty="0" smtClean="0">
                <a:solidFill>
                  <a:srgbClr val="FFC000"/>
                </a:solidFill>
              </a:rPr>
            </a:br>
            <a:r>
              <a:rPr lang="en-US" dirty="0" smtClean="0">
                <a:solidFill>
                  <a:srgbClr val="FFC000"/>
                </a:solidFill>
              </a:rPr>
              <a:t> - databases</a:t>
            </a:r>
            <a:br>
              <a:rPr lang="en-US" dirty="0" smtClean="0">
                <a:solidFill>
                  <a:srgbClr val="FFC000"/>
                </a:solidFill>
              </a:rPr>
            </a:br>
            <a:r>
              <a:rPr lang="en-US" dirty="0" smtClean="0">
                <a:solidFill>
                  <a:srgbClr val="FFC000"/>
                </a:solidFill>
              </a:rPr>
              <a:t> - web-services</a:t>
            </a:r>
            <a:endParaRPr lang="en-US" dirty="0">
              <a:solidFill>
                <a:srgbClr val="FFC000"/>
              </a:solidFill>
            </a:endParaRPr>
          </a:p>
          <a:p>
            <a:r>
              <a:rPr lang="en-US" dirty="0" smtClean="0">
                <a:solidFill>
                  <a:srgbClr val="FFC000"/>
                </a:solidFill>
              </a:rPr>
              <a:t> - files</a:t>
            </a:r>
            <a:endParaRPr 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3881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4">
                    <a:lumMod val="75000"/>
                  </a:schemeClr>
                </a:solidFill>
              </a:rPr>
              <a:t>Generators</a:t>
            </a:r>
            <a:r>
              <a:rPr lang="en-US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from a 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Data-Provider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1427148"/>
              </p:ext>
            </p:extLst>
          </p:nvPr>
        </p:nvGraphicFramePr>
        <p:xfrm>
          <a:off x="480646" y="1784347"/>
          <a:ext cx="11476892" cy="356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2040"/>
                <a:gridCol w="6724852"/>
              </a:tblGrid>
              <a:tr h="593562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Function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Produces a generator whose yield values</a:t>
                      </a:r>
                      <a:endParaRPr lang="en-US" sz="2400" dirty="0"/>
                    </a:p>
                  </a:txBody>
                  <a:tcPr/>
                </a:tc>
              </a:tr>
              <a:tr h="910129">
                <a:tc>
                  <a:txBody>
                    <a:bodyPr/>
                    <a:lstStyle/>
                    <a:p>
                      <a:r>
                        <a:rPr kumimoji="0" lang="en-US" sz="2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gn:make-generator</a:t>
                      </a:r>
                      <a:endParaRPr lang="en-US" sz="20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Are obtained by successive calls to a </a:t>
                      </a:r>
                      <a:r>
                        <a:rPr lang="en-US" sz="2000" dirty="0" smtClean="0">
                          <a:latin typeface="Consolas" panose="020B0609020204030204" pitchFamily="49" charset="0"/>
                        </a:rPr>
                        <a:t>$provider</a:t>
                      </a:r>
                      <a:r>
                        <a:rPr kumimoji="0" lang="en-US" sz="20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function.</a:t>
                      </a:r>
                      <a:endParaRPr lang="en-US" sz="2000" dirty="0"/>
                    </a:p>
                  </a:txBody>
                  <a:tcPr/>
                </a:tc>
              </a:tr>
              <a:tr h="514421">
                <a:tc>
                  <a:txBody>
                    <a:bodyPr/>
                    <a:lstStyle/>
                    <a:p>
                      <a:r>
                        <a:rPr kumimoji="0" lang="en-US" sz="2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gn:make-generator-from-array</a:t>
                      </a:r>
                      <a:endParaRPr lang="en-US" sz="20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Are from an </a:t>
                      </a:r>
                      <a:r>
                        <a:rPr lang="en-US" sz="2000" dirty="0" smtClean="0">
                          <a:latin typeface="Consolas" panose="020B0609020204030204" pitchFamily="49" charset="0"/>
                        </a:rPr>
                        <a:t>$input</a:t>
                      </a:r>
                      <a:r>
                        <a:rPr kumimoji="0" lang="en-US" sz="20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array</a:t>
                      </a:r>
                      <a:endParaRPr lang="en-US" sz="2000" dirty="0"/>
                    </a:p>
                  </a:txBody>
                  <a:tcPr/>
                </a:tc>
              </a:tr>
              <a:tr h="514421">
                <a:tc>
                  <a:txBody>
                    <a:bodyPr/>
                    <a:lstStyle/>
                    <a:p>
                      <a:r>
                        <a:rPr kumimoji="0" lang="en-US" sz="2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gn:make-generator-from-sequence</a:t>
                      </a:r>
                      <a:endParaRPr lang="en-US" sz="20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Are from an </a:t>
                      </a:r>
                      <a:r>
                        <a:rPr lang="en-US" sz="2000" dirty="0" smtClean="0">
                          <a:latin typeface="Consolas" panose="020B0609020204030204" pitchFamily="49" charset="0"/>
                        </a:rPr>
                        <a:t>$input</a:t>
                      </a:r>
                      <a:r>
                        <a:rPr kumimoji="0" lang="en-US" sz="20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20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sequence</a:t>
                      </a:r>
                      <a:endParaRPr lang="en-US" sz="2000" dirty="0" smtClean="0">
                        <a:latin typeface="+mn-lt"/>
                      </a:endParaRPr>
                    </a:p>
                  </a:txBody>
                  <a:tcPr/>
                </a:tc>
              </a:tr>
              <a:tr h="514421">
                <a:tc>
                  <a:txBody>
                    <a:bodyPr/>
                    <a:lstStyle/>
                    <a:p>
                      <a:r>
                        <a:rPr kumimoji="0" lang="en-US" sz="2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gn:make-generator-from-map</a:t>
                      </a:r>
                      <a:endParaRPr lang="en-US" sz="20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Are from an </a:t>
                      </a:r>
                      <a:r>
                        <a:rPr lang="en-US" sz="2000" dirty="0" smtClean="0">
                          <a:latin typeface="Consolas" panose="020B0609020204030204" pitchFamily="49" charset="0"/>
                        </a:rPr>
                        <a:t>$input</a:t>
                      </a:r>
                      <a:r>
                        <a:rPr kumimoji="0" lang="en-US" sz="20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20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map</a:t>
                      </a:r>
                      <a:endParaRPr lang="en-US" sz="2000" dirty="0" smtClean="0">
                        <a:latin typeface="+mn-lt"/>
                      </a:endParaRPr>
                    </a:p>
                  </a:txBody>
                  <a:tcPr/>
                </a:tc>
              </a:tr>
              <a:tr h="514421">
                <a:tc>
                  <a:txBody>
                    <a:bodyPr/>
                    <a:lstStyle/>
                    <a:p>
                      <a:r>
                        <a:rPr kumimoji="0" lang="en-US" sz="2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gn:empty-generator</a:t>
                      </a:r>
                      <a:endParaRPr lang="en-US" sz="20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Whose yield has no values</a:t>
                      </a:r>
                      <a:endParaRPr lang="en-US" sz="2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80645" y="2340864"/>
            <a:ext cx="4724401" cy="9298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80647" y="4780766"/>
            <a:ext cx="4724399" cy="5649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389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Functions to </a:t>
            </a:r>
            <a:r>
              <a:rPr lang="en-US" b="1" dirty="0" smtClean="0">
                <a:solidFill>
                  <a:schemeClr val="tx1">
                    <a:lumMod val="85000"/>
                  </a:schemeClr>
                </a:solidFill>
              </a:rPr>
              <a:t>Materialize the </a:t>
            </a:r>
            <a:r>
              <a:rPr lang="en-US" b="1" dirty="0">
                <a:solidFill>
                  <a:schemeClr val="tx1">
                    <a:lumMod val="85000"/>
                  </a:schemeClr>
                </a:solidFill>
              </a:rPr>
              <a:t>C</a:t>
            </a:r>
            <a:r>
              <a:rPr lang="en-US" b="1" dirty="0" smtClean="0">
                <a:solidFill>
                  <a:schemeClr val="tx1">
                    <a:lumMod val="85000"/>
                  </a:schemeClr>
                </a:solidFill>
              </a:rPr>
              <a:t>omplete </a:t>
            </a:r>
            <a:r>
              <a:rPr lang="en-US" b="1" dirty="0">
                <a:solidFill>
                  <a:schemeClr val="tx1">
                    <a:lumMod val="85000"/>
                  </a:schemeClr>
                </a:solidFill>
              </a:rPr>
              <a:t>Y</a:t>
            </a:r>
            <a:r>
              <a:rPr lang="en-US" b="1" dirty="0" smtClean="0">
                <a:solidFill>
                  <a:schemeClr val="tx1">
                    <a:lumMod val="85000"/>
                  </a:schemeClr>
                </a:solidFill>
              </a:rPr>
              <a:t>ield</a:t>
            </a:r>
            <a:endParaRPr lang="en-US" b="1" dirty="0">
              <a:solidFill>
                <a:schemeClr val="tx1">
                  <a:lumMod val="85000"/>
                </a:schemeClr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4398099"/>
              </p:ext>
            </p:extLst>
          </p:nvPr>
        </p:nvGraphicFramePr>
        <p:xfrm>
          <a:off x="2804160" y="1771406"/>
          <a:ext cx="7193280" cy="25625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8370"/>
                <a:gridCol w="4134910"/>
              </a:tblGrid>
              <a:tr h="7118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Materializes the yield into</a:t>
                      </a:r>
                      <a:endParaRPr lang="en-US" sz="2400" dirty="0"/>
                    </a:p>
                  </a:txBody>
                  <a:tcPr/>
                </a:tc>
              </a:tr>
              <a:tr h="616914">
                <a:tc>
                  <a:txBody>
                    <a:bodyPr/>
                    <a:lstStyle/>
                    <a:p>
                      <a:r>
                        <a:rPr kumimoji="0" lang="en-US" sz="2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gn:to-array</a:t>
                      </a:r>
                      <a:endParaRPr lang="en-US" sz="20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Array</a:t>
                      </a:r>
                      <a:endParaRPr lang="en-US" sz="2000" dirty="0"/>
                    </a:p>
                  </a:txBody>
                  <a:tcPr/>
                </a:tc>
              </a:tr>
              <a:tr h="616914">
                <a:tc>
                  <a:txBody>
                    <a:bodyPr/>
                    <a:lstStyle/>
                    <a:p>
                      <a:r>
                        <a:rPr kumimoji="0" lang="en-US" sz="2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gn:to-sequence</a:t>
                      </a:r>
                      <a:endParaRPr lang="en-US" sz="20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Sequence</a:t>
                      </a:r>
                      <a:endParaRPr lang="en-US" sz="2000" dirty="0"/>
                    </a:p>
                  </a:txBody>
                  <a:tcPr/>
                </a:tc>
              </a:tr>
              <a:tr h="616914">
                <a:tc>
                  <a:txBody>
                    <a:bodyPr/>
                    <a:lstStyle/>
                    <a:p>
                      <a:r>
                        <a:rPr kumimoji="0" lang="en-US" sz="2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gn:to-map</a:t>
                      </a:r>
                      <a:endParaRPr lang="en-US" sz="20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Map</a:t>
                      </a:r>
                      <a:endParaRPr lang="en-US" sz="2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804160" y="2504049"/>
            <a:ext cx="3901440" cy="5486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154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Examples</a:t>
            </a:r>
            <a:r>
              <a:rPr lang="en-US" dirty="0" smtClean="0"/>
              <a:t>: </a:t>
            </a:r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1. </a:t>
            </a:r>
            <a:r>
              <a:rPr lang="en-US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Auxiliary generators</a:t>
            </a:r>
            <a:endParaRPr lang="en-US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5" y="1305257"/>
            <a:ext cx="11085341" cy="5123677"/>
          </a:xfrm>
        </p:spPr>
        <p:txBody>
          <a:bodyPr>
            <a:normAutofit fontScale="70000" lnSpcReduction="20000"/>
          </a:bodyPr>
          <a:lstStyle/>
          <a:p>
            <a:pPr marL="68580" indent="0">
              <a:buNone/>
            </a:pPr>
            <a:r>
              <a:rPr lang="en-US" dirty="0" smtClean="0">
                <a:solidFill>
                  <a:srgbClr val="FFC000"/>
                </a:solidFill>
                <a:latin typeface="Consolas" panose="020B0609020204030204" pitchFamily="49" charset="0"/>
              </a:rPr>
              <a:t>let </a:t>
            </a:r>
            <a:r>
              <a:rPr lang="en-US" dirty="0">
                <a:solidFill>
                  <a:srgbClr val="FFC000"/>
                </a:solidFill>
                <a:latin typeface="Consolas" panose="020B0609020204030204" pitchFamily="49" charset="0"/>
              </a:rPr>
              <a:t>$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gen2ToInf </a:t>
            </a:r>
            <a:r>
              <a:rPr lang="en-US" dirty="0">
                <a:solidFill>
                  <a:srgbClr val="FFC000"/>
                </a:solidFill>
                <a:latin typeface="Consolas" panose="020B0609020204030204" pitchFamily="49" charset="0"/>
              </a:rPr>
              <a:t>:= f:generator(initialized := true(), </a:t>
            </a:r>
          </a:p>
          <a:p>
            <a:pPr marL="68580" indent="0">
              <a:buNone/>
            </a:pPr>
            <a:r>
              <a:rPr lang="en-US" dirty="0">
                <a:solidFill>
                  <a:srgbClr val="FFC000"/>
                </a:solidFill>
                <a:latin typeface="Consolas" panose="020B0609020204030204" pitchFamily="49" charset="0"/>
              </a:rPr>
              <a:t>                              end-reached := false(), </a:t>
            </a:r>
          </a:p>
          <a:p>
            <a:pPr marL="68580" indent="0">
              <a:buNone/>
            </a:pPr>
            <a:r>
              <a:rPr lang="en-US" dirty="0">
                <a:solidFill>
                  <a:srgbClr val="FFC000"/>
                </a:solidFill>
                <a:latin typeface="Consolas" panose="020B0609020204030204" pitchFamily="49" charset="0"/>
              </a:rPr>
              <a:t>                              get-current := </a:t>
            </a:r>
            <a:r>
              <a:rPr lang="en-US" dirty="0" err="1">
                <a:solidFill>
                  <a:srgbClr val="FFC000"/>
                </a:solidFill>
                <a:latin typeface="Consolas" panose="020B0609020204030204" pitchFamily="49" charset="0"/>
              </a:rPr>
              <a:t>fn</a:t>
            </a:r>
            <a:r>
              <a:rPr lang="en-US" dirty="0">
                <a:solidFill>
                  <a:srgbClr val="FFC000"/>
                </a:solidFill>
                <a:latin typeface="Consolas" panose="020B0609020204030204" pitchFamily="49" charset="0"/>
              </a:rPr>
              <a:t>($this as f:generator) </a:t>
            </a:r>
          </a:p>
          <a:p>
            <a:pPr marL="68580" indent="0">
              <a:buNone/>
            </a:pPr>
            <a:r>
              <a:rPr lang="en-US" dirty="0">
                <a:solidFill>
                  <a:srgbClr val="FFC000"/>
                </a:solidFill>
                <a:latin typeface="Consolas" panose="020B0609020204030204" pitchFamily="49" charset="0"/>
              </a:rPr>
              <a:t>                                               {$</a:t>
            </a:r>
            <a:r>
              <a:rPr lang="en-US" dirty="0" err="1">
                <a:solidFill>
                  <a:srgbClr val="FFC000"/>
                </a:solidFill>
                <a:latin typeface="Consolas" panose="020B0609020204030204" pitchFamily="49" charset="0"/>
              </a:rPr>
              <a:t>this?state?last</a:t>
            </a:r>
            <a:r>
              <a:rPr lang="en-US" dirty="0">
                <a:solidFill>
                  <a:srgbClr val="FFC000"/>
                </a:solidFill>
                <a:latin typeface="Consolas" panose="020B0609020204030204" pitchFamily="49" charset="0"/>
              </a:rPr>
              <a:t> +1}, </a:t>
            </a:r>
          </a:p>
          <a:p>
            <a:pPr marL="68580" indent="0">
              <a:buNone/>
            </a:pPr>
            <a:r>
              <a:rPr lang="en-US" dirty="0">
                <a:solidFill>
                  <a:srgbClr val="FFC000"/>
                </a:solidFill>
                <a:latin typeface="Consolas" panose="020B0609020204030204" pitchFamily="49" charset="0"/>
              </a:rPr>
              <a:t>                              move-next :=   </a:t>
            </a:r>
            <a:r>
              <a:rPr lang="en-US" dirty="0" err="1">
                <a:solidFill>
                  <a:srgbClr val="FFC000"/>
                </a:solidFill>
                <a:latin typeface="Consolas" panose="020B0609020204030204" pitchFamily="49" charset="0"/>
              </a:rPr>
              <a:t>fn</a:t>
            </a:r>
            <a:r>
              <a:rPr lang="en-US" dirty="0">
                <a:solidFill>
                  <a:srgbClr val="FFC000"/>
                </a:solidFill>
                <a:latin typeface="Consolas" panose="020B0609020204030204" pitchFamily="49" charset="0"/>
              </a:rPr>
              <a:t>($this as f:generator)</a:t>
            </a:r>
          </a:p>
          <a:p>
            <a:pPr marL="68580" indent="0">
              <a:buNone/>
            </a:pPr>
            <a:r>
              <a:rPr lang="en-US" dirty="0">
                <a:solidFill>
                  <a:srgbClr val="FFC000"/>
                </a:solidFill>
                <a:latin typeface="Consolas" panose="020B0609020204030204" pitchFamily="49" charset="0"/>
              </a:rPr>
              <a:t>                              {</a:t>
            </a:r>
          </a:p>
          <a:p>
            <a:pPr marL="68580" indent="0">
              <a:buNone/>
            </a:pPr>
            <a:r>
              <a:rPr lang="en-US" dirty="0">
                <a:solidFill>
                  <a:srgbClr val="FFC000"/>
                </a:solidFill>
                <a:latin typeface="Consolas" panose="020B0609020204030204" pitchFamily="49" charset="0"/>
              </a:rPr>
              <a:t>                                </a:t>
            </a:r>
            <a:r>
              <a:rPr lang="en-US" dirty="0" err="1">
                <a:solidFill>
                  <a:srgbClr val="FFC000"/>
                </a:solidFill>
                <a:latin typeface="Consolas" panose="020B0609020204030204" pitchFamily="49" charset="0"/>
              </a:rPr>
              <a:t>map:put</a:t>
            </a:r>
            <a:r>
              <a:rPr lang="en-US" dirty="0">
                <a:solidFill>
                  <a:srgbClr val="FFC000"/>
                </a:solidFill>
                <a:latin typeface="Consolas" panose="020B0609020204030204" pitchFamily="49" charset="0"/>
              </a:rPr>
              <a:t>($this, "state", </a:t>
            </a:r>
          </a:p>
          <a:p>
            <a:pPr marL="68580" indent="0">
              <a:buNone/>
            </a:pPr>
            <a:r>
              <a:rPr lang="en-US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                                      map</a:t>
            </a:r>
            <a:r>
              <a:rPr lang="en-US" dirty="0">
                <a:solidFill>
                  <a:srgbClr val="FFC000"/>
                </a:solidFill>
                <a:latin typeface="Consolas" panose="020B0609020204030204" pitchFamily="49" charset="0"/>
              </a:rPr>
              <a:t>{"last": $</a:t>
            </a:r>
            <a:r>
              <a:rPr lang="en-US" dirty="0" err="1">
                <a:solidFill>
                  <a:srgbClr val="FFC000"/>
                </a:solidFill>
                <a:latin typeface="Consolas" panose="020B0609020204030204" pitchFamily="49" charset="0"/>
              </a:rPr>
              <a:t>this?state?last</a:t>
            </a:r>
            <a:r>
              <a:rPr lang="en-US" dirty="0">
                <a:solidFill>
                  <a:srgbClr val="FFC000"/>
                </a:solidFill>
                <a:latin typeface="Consolas" panose="020B0609020204030204" pitchFamily="49" charset="0"/>
              </a:rPr>
              <a:t> + 1})</a:t>
            </a:r>
          </a:p>
          <a:p>
            <a:pPr marL="68580" indent="0">
              <a:buNone/>
            </a:pPr>
            <a:r>
              <a:rPr lang="en-US" dirty="0">
                <a:solidFill>
                  <a:srgbClr val="FFC000"/>
                </a:solidFill>
                <a:latin typeface="Consolas" panose="020B0609020204030204" pitchFamily="49" charset="0"/>
              </a:rPr>
              <a:t>                              },</a:t>
            </a:r>
          </a:p>
          <a:p>
            <a:pPr marL="68580" indent="0">
              <a:buNone/>
            </a:pPr>
            <a:r>
              <a:rPr lang="en-US" dirty="0">
                <a:solidFill>
                  <a:srgbClr val="FFC000"/>
                </a:solidFill>
                <a:latin typeface="Consolas" panose="020B0609020204030204" pitchFamily="49" charset="0"/>
              </a:rPr>
              <a:t>                              state := map{"last" : 1}</a:t>
            </a:r>
          </a:p>
          <a:p>
            <a:pPr marL="68580" indent="0">
              <a:buNone/>
            </a:pPr>
            <a:r>
              <a:rPr lang="en-US" dirty="0">
                <a:solidFill>
                  <a:srgbClr val="FFC000"/>
                </a:solidFill>
                <a:latin typeface="Consolas" panose="020B0609020204030204" pitchFamily="49" charset="0"/>
              </a:rPr>
              <a:t>                             </a:t>
            </a:r>
            <a:r>
              <a:rPr lang="en-US" dirty="0" smtClean="0">
                <a:solidFill>
                  <a:srgbClr val="FFC000"/>
                </a:solidFill>
                <a:latin typeface="Consolas" panose="020B0609020204030204" pitchFamily="49" charset="0"/>
              </a:rPr>
              <a:t>) </a:t>
            </a:r>
          </a:p>
          <a:p>
            <a:pPr marL="68580" indent="0">
              <a:buNone/>
            </a:pPr>
            <a:r>
              <a:rPr lang="en-US" dirty="0" smtClean="0">
                <a:solidFill>
                  <a:srgbClr val="FFC000"/>
                </a:solidFill>
                <a:latin typeface="Consolas" panose="020B0609020204030204" pitchFamily="49" charset="0"/>
              </a:rPr>
              <a:t>let </a:t>
            </a:r>
            <a:r>
              <a:rPr lang="en-US" dirty="0">
                <a:solidFill>
                  <a:srgbClr val="FFC000"/>
                </a:solidFill>
                <a:latin typeface="Consolas" panose="020B0609020204030204" pitchFamily="49" charset="0"/>
              </a:rPr>
              <a:t>$</a:t>
            </a:r>
            <a:r>
              <a:rPr lang="en-US" dirty="0" smtClean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gen0ToInf </a:t>
            </a:r>
            <a:r>
              <a:rPr lang="en-US" dirty="0">
                <a:solidFill>
                  <a:srgbClr val="FFC000"/>
                </a:solidFill>
                <a:latin typeface="Consolas" panose="020B0609020204030204" pitchFamily="49" charset="0"/>
              </a:rPr>
              <a:t>:= $gen2ToInf =&gt; </a:t>
            </a:r>
            <a:r>
              <a:rPr lang="en-US" dirty="0" err="1">
                <a:solidFill>
                  <a:srgbClr val="FFC000"/>
                </a:solidFill>
                <a:latin typeface="Consolas" panose="020B0609020204030204" pitchFamily="49" charset="0"/>
              </a:rPr>
              <a:t>map:put</a:t>
            </a:r>
            <a:r>
              <a:rPr lang="en-US" dirty="0">
                <a:solidFill>
                  <a:srgbClr val="FFC000"/>
                </a:solidFill>
                <a:latin typeface="Consolas" panose="020B0609020204030204" pitchFamily="49" charset="0"/>
              </a:rPr>
              <a:t>("state", map{"last": </a:t>
            </a:r>
            <a:r>
              <a:rPr lang="en-US" dirty="0" smtClean="0">
                <a:solidFill>
                  <a:srgbClr val="FFC000"/>
                </a:solidFill>
                <a:latin typeface="Consolas" panose="020B0609020204030204" pitchFamily="49" charset="0"/>
              </a:rPr>
              <a:t>-1})</a:t>
            </a:r>
          </a:p>
          <a:p>
            <a:pPr marL="68580" indent="0">
              <a:buNone/>
            </a:pPr>
            <a:r>
              <a:rPr lang="en-US" dirty="0" smtClean="0">
                <a:solidFill>
                  <a:srgbClr val="FFC000"/>
                </a:solidFill>
                <a:latin typeface="Consolas" panose="020B0609020204030204" pitchFamily="49" charset="0"/>
              </a:rPr>
              <a:t>$</a:t>
            </a:r>
            <a:r>
              <a:rPr lang="en-US" dirty="0" err="1" smtClean="0">
                <a:solidFill>
                  <a:schemeClr val="accent3"/>
                </a:solidFill>
                <a:latin typeface="Consolas" panose="020B0609020204030204" pitchFamily="49" charset="0"/>
              </a:rPr>
              <a:t>genLeafAndAncestorNames</a:t>
            </a:r>
            <a:r>
              <a:rPr lang="en-US" dirty="0" smtClean="0">
                <a:solidFill>
                  <a:schemeClr val="accent3"/>
                </a:solidFill>
                <a:latin typeface="Consolas" panose="020B0609020204030204" pitchFamily="49" charset="0"/>
              </a:rPr>
              <a:t>  </a:t>
            </a:r>
            <a:endParaRPr lang="en-US" dirty="0">
              <a:solidFill>
                <a:schemeClr val="accent3"/>
              </a:solidFill>
              <a:latin typeface="Consolas" panose="020B0609020204030204" pitchFamily="49" charset="0"/>
            </a:endParaRPr>
          </a:p>
          <a:p>
            <a:pPr marL="68580" indent="0">
              <a:buNone/>
            </a:pPr>
            <a:endParaRPr lang="en-US" dirty="0">
              <a:solidFill>
                <a:srgbClr val="FFC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190979" y="4318782"/>
            <a:ext cx="3587261" cy="50643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190978" y="1966440"/>
            <a:ext cx="5725551" cy="70642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469987" y="3380019"/>
            <a:ext cx="6112413" cy="70642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ctangle 2"/>
          <p:cNvSpPr>
            <a:spLocks noChangeArrowheads="1"/>
          </p:cNvSpPr>
          <p:nvPr/>
        </p:nvSpPr>
        <p:spPr bwMode="auto">
          <a:xfrm>
            <a:off x="10829709" y="145969"/>
            <a:ext cx="1268506" cy="19729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square" lIns="91440" tIns="7935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 Unicode MS" panose="020B0604020202020204" pitchFamily="34" charset="-128"/>
              </a:rPr>
              <a:t>&lt;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 Unicode MS" panose="020B0604020202020204" pitchFamily="34" charset="-128"/>
              </a:rPr>
              <a:t>x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 Unicode MS" panose="020B0604020202020204" pitchFamily="34" charset="-128"/>
              </a:rPr>
              <a:t>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chemeClr val="accent1"/>
                </a:solidFill>
                <a:latin typeface="Arial Unicode MS" panose="020B0604020202020204" pitchFamily="34" charset="-128"/>
              </a:rPr>
              <a:t> </a:t>
            </a:r>
            <a:r>
              <a:rPr lang="en-US" altLang="en-US" sz="2400" dirty="0" smtClean="0">
                <a:solidFill>
                  <a:schemeClr val="accent1"/>
                </a:solidFill>
                <a:latin typeface="Arial Unicode MS" panose="020B0604020202020204" pitchFamily="34" charset="-128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 Unicode MS" panose="020B0604020202020204" pitchFamily="34" charset="-128"/>
              </a:rPr>
              <a:t>&lt;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 Unicode MS" panose="020B0604020202020204" pitchFamily="34" charset="-128"/>
              </a:rPr>
              <a:t>y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 Unicode MS" panose="020B0604020202020204" pitchFamily="34" charset="-128"/>
              </a:rPr>
              <a:t>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chemeClr val="accent1"/>
                </a:solidFill>
                <a:latin typeface="Arial Unicode MS" panose="020B0604020202020204" pitchFamily="34" charset="-128"/>
              </a:rPr>
              <a:t> </a:t>
            </a:r>
            <a:r>
              <a:rPr lang="en-US" altLang="en-US" sz="2400" dirty="0" smtClean="0">
                <a:solidFill>
                  <a:schemeClr val="accent1"/>
                </a:solidFill>
                <a:latin typeface="Arial Unicode MS" panose="020B0604020202020204" pitchFamily="34" charset="-128"/>
              </a:rPr>
              <a:t>  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 Unicode MS" panose="020B0604020202020204" pitchFamily="34" charset="-128"/>
              </a:rPr>
              <a:t>&lt;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 Unicode MS" panose="020B0604020202020204" pitchFamily="34" charset="-128"/>
              </a:rPr>
              <a:t>z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 Unicode MS" panose="020B0604020202020204" pitchFamily="34" charset="-128"/>
              </a:rPr>
              <a:t>/&gt;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chemeClr val="accent1"/>
                </a:solidFill>
                <a:latin typeface="Arial Unicode MS" panose="020B0604020202020204" pitchFamily="34" charset="-128"/>
              </a:rPr>
              <a:t> </a:t>
            </a:r>
            <a:r>
              <a:rPr lang="en-US" altLang="en-US" sz="2400" dirty="0" smtClean="0">
                <a:solidFill>
                  <a:schemeClr val="accent1"/>
                </a:solidFill>
                <a:latin typeface="Arial Unicode MS" panose="020B0604020202020204" pitchFamily="34" charset="-128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 Unicode MS" panose="020B0604020202020204" pitchFamily="34" charset="-128"/>
              </a:rPr>
              <a:t>&lt;/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 Unicode MS" panose="020B0604020202020204" pitchFamily="34" charset="-128"/>
              </a:rPr>
              <a:t>y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 Unicode MS" panose="020B0604020202020204" pitchFamily="34" charset="-128"/>
              </a:rPr>
              <a:t>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 Unicode MS" panose="020B0604020202020204" pitchFamily="34" charset="-128"/>
              </a:rPr>
              <a:t>&lt;/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 Unicode MS" panose="020B0604020202020204" pitchFamily="34" charset="-128"/>
              </a:rPr>
              <a:t>x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 Unicode MS" panose="020B0604020202020204" pitchFamily="34" charset="-128"/>
              </a:rPr>
              <a:t>&gt;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accent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9193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Examples</a:t>
            </a:r>
            <a:r>
              <a:rPr lang="en-US" dirty="0"/>
              <a:t>: </a:t>
            </a:r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2. </a:t>
            </a:r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Auxiliary </a:t>
            </a:r>
            <a:r>
              <a:rPr lang="en-US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746" y="1783560"/>
            <a:ext cx="11873132" cy="4572000"/>
          </a:xfrm>
        </p:spPr>
        <p:txBody>
          <a:bodyPr/>
          <a:lstStyle/>
          <a:p>
            <a:pPr marL="68580" indent="0">
              <a:buNone/>
            </a:pPr>
            <a:r>
              <a:rPr lang="fr-FR" dirty="0">
                <a:solidFill>
                  <a:srgbClr val="FFC000"/>
                </a:solidFill>
                <a:latin typeface="Consolas" panose="020B0609020204030204" pitchFamily="49" charset="0"/>
              </a:rPr>
              <a:t>$</a:t>
            </a:r>
            <a:r>
              <a:rPr lang="fr-FR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double</a:t>
            </a:r>
            <a:r>
              <a:rPr lang="fr-FR" dirty="0">
                <a:solidFill>
                  <a:srgbClr val="FFC000"/>
                </a:solidFill>
                <a:latin typeface="Consolas" panose="020B0609020204030204" pitchFamily="49" charset="0"/>
              </a:rPr>
              <a:t> := </a:t>
            </a:r>
            <a:r>
              <a:rPr lang="fr-FR" dirty="0" err="1">
                <a:solidFill>
                  <a:srgbClr val="FFC000"/>
                </a:solidFill>
                <a:latin typeface="Consolas" panose="020B0609020204030204" pitchFamily="49" charset="0"/>
              </a:rPr>
              <a:t>fn</a:t>
            </a:r>
            <a:r>
              <a:rPr lang="fr-FR" dirty="0">
                <a:solidFill>
                  <a:srgbClr val="FFC000"/>
                </a:solidFill>
                <a:latin typeface="Consolas" panose="020B0609020204030204" pitchFamily="49" charset="0"/>
              </a:rPr>
              <a:t>($</a:t>
            </a:r>
            <a:r>
              <a:rPr lang="fr-FR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fr-FR" dirty="0">
                <a:solidFill>
                  <a:srgbClr val="FFC000"/>
                </a:solidFill>
                <a:latin typeface="Consolas" panose="020B0609020204030204" pitchFamily="49" charset="0"/>
              </a:rPr>
              <a:t>) {</a:t>
            </a:r>
            <a:r>
              <a:rPr lang="fr-FR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2</a:t>
            </a:r>
            <a:r>
              <a:rPr lang="fr-FR" dirty="0" smtClean="0">
                <a:solidFill>
                  <a:srgbClr val="FFC000"/>
                </a:solidFill>
                <a:latin typeface="Consolas" panose="020B0609020204030204" pitchFamily="49" charset="0"/>
              </a:rPr>
              <a:t>*</a:t>
            </a:r>
            <a:r>
              <a:rPr lang="fr-FR" dirty="0">
                <a:solidFill>
                  <a:srgbClr val="FFC000"/>
                </a:solidFill>
                <a:latin typeface="Consolas" panose="020B0609020204030204" pitchFamily="49" charset="0"/>
              </a:rPr>
              <a:t>$</a:t>
            </a:r>
            <a:r>
              <a:rPr lang="fr-FR" dirty="0" smtClean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fr-FR" dirty="0" smtClean="0">
                <a:solidFill>
                  <a:srgbClr val="FFC000"/>
                </a:solidFill>
                <a:latin typeface="Consolas" panose="020B0609020204030204" pitchFamily="49" charset="0"/>
              </a:rPr>
              <a:t>}</a:t>
            </a:r>
          </a:p>
          <a:p>
            <a:pPr marL="68580" indent="0">
              <a:buNone/>
            </a:pPr>
            <a:r>
              <a:rPr lang="es-ES" dirty="0" smtClean="0">
                <a:solidFill>
                  <a:srgbClr val="FFC000"/>
                </a:solidFill>
                <a:latin typeface="Consolas" panose="020B0609020204030204" pitchFamily="49" charset="0"/>
              </a:rPr>
              <a:t>$</a:t>
            </a:r>
            <a:r>
              <a:rPr lang="es-ES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product</a:t>
            </a:r>
            <a:r>
              <a:rPr lang="es-ES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s-ES" dirty="0">
                <a:solidFill>
                  <a:srgbClr val="FFC000"/>
                </a:solidFill>
                <a:latin typeface="Consolas" panose="020B0609020204030204" pitchFamily="49" charset="0"/>
              </a:rPr>
              <a:t>:= </a:t>
            </a:r>
            <a:r>
              <a:rPr lang="es-ES" dirty="0" err="1">
                <a:solidFill>
                  <a:srgbClr val="FFC000"/>
                </a:solidFill>
                <a:latin typeface="Consolas" panose="020B0609020204030204" pitchFamily="49" charset="0"/>
              </a:rPr>
              <a:t>fn</a:t>
            </a:r>
            <a:r>
              <a:rPr lang="es-ES" dirty="0">
                <a:solidFill>
                  <a:srgbClr val="FFC000"/>
                </a:solidFill>
                <a:latin typeface="Consolas" panose="020B0609020204030204" pitchFamily="49" charset="0"/>
              </a:rPr>
              <a:t>($</a:t>
            </a:r>
            <a:r>
              <a:rPr lang="es-ES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x</a:t>
            </a:r>
            <a:r>
              <a:rPr lang="es-ES" dirty="0">
                <a:solidFill>
                  <a:srgbClr val="FFC000"/>
                </a:solidFill>
                <a:latin typeface="Consolas" panose="020B0609020204030204" pitchFamily="49" charset="0"/>
              </a:rPr>
              <a:t>, $</a:t>
            </a:r>
            <a:r>
              <a:rPr lang="es-ES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s-ES" dirty="0">
                <a:solidFill>
                  <a:srgbClr val="FFC000"/>
                </a:solidFill>
                <a:latin typeface="Consolas" panose="020B0609020204030204" pitchFamily="49" charset="0"/>
              </a:rPr>
              <a:t>) {$</a:t>
            </a:r>
            <a:r>
              <a:rPr lang="es-ES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x</a:t>
            </a:r>
            <a:r>
              <a:rPr lang="es-ES" dirty="0">
                <a:solidFill>
                  <a:srgbClr val="FFC000"/>
                </a:solidFill>
                <a:latin typeface="Consolas" panose="020B0609020204030204" pitchFamily="49" charset="0"/>
              </a:rPr>
              <a:t> * $</a:t>
            </a:r>
            <a:r>
              <a:rPr lang="es-ES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s-ES" dirty="0" smtClean="0">
                <a:solidFill>
                  <a:srgbClr val="FFC000"/>
                </a:solidFill>
                <a:latin typeface="Consolas" panose="020B0609020204030204" pitchFamily="49" charset="0"/>
              </a:rPr>
              <a:t>}</a:t>
            </a:r>
          </a:p>
          <a:p>
            <a:pPr marL="68580" indent="0">
              <a:buNone/>
            </a:pPr>
            <a:r>
              <a:rPr lang="en-US" dirty="0">
                <a:solidFill>
                  <a:srgbClr val="FFC000"/>
                </a:solidFill>
                <a:latin typeface="Consolas" panose="020B0609020204030204" pitchFamily="49" charset="0"/>
              </a:rPr>
              <a:t>$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factorial</a:t>
            </a:r>
            <a:r>
              <a:rPr lang="en-US" dirty="0">
                <a:solidFill>
                  <a:srgbClr val="FFC000"/>
                </a:solidFill>
                <a:latin typeface="Consolas" panose="020B0609020204030204" pitchFamily="49" charset="0"/>
              </a:rPr>
              <a:t> := </a:t>
            </a:r>
            <a:r>
              <a:rPr lang="en-US" dirty="0" err="1">
                <a:solidFill>
                  <a:srgbClr val="FFC000"/>
                </a:solidFill>
                <a:latin typeface="Consolas" panose="020B0609020204030204" pitchFamily="49" charset="0"/>
              </a:rPr>
              <a:t>fn</a:t>
            </a:r>
            <a:r>
              <a:rPr lang="en-US" dirty="0" smtClean="0">
                <a:solidFill>
                  <a:srgbClr val="FFC000"/>
                </a:solidFill>
                <a:latin typeface="Consolas" panose="020B0609020204030204" pitchFamily="49" charset="0"/>
              </a:rPr>
              <a:t>($</a:t>
            </a:r>
            <a:r>
              <a:rPr lang="fr-FR" dirty="0" smtClean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dirty="0" smtClean="0">
                <a:solidFill>
                  <a:srgbClr val="FFC000"/>
                </a:solidFill>
                <a:latin typeface="Consolas" panose="020B0609020204030204" pitchFamily="49" charset="0"/>
              </a:rPr>
              <a:t>) </a:t>
            </a:r>
            <a:r>
              <a:rPr lang="en-US" dirty="0">
                <a:solidFill>
                  <a:srgbClr val="FFC000"/>
                </a:solidFill>
                <a:latin typeface="Consolas" panose="020B0609020204030204" pitchFamily="49" charset="0"/>
              </a:rPr>
              <a:t>{fold-left(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FFC000"/>
                </a:solidFill>
                <a:latin typeface="Consolas" panose="020B0609020204030204" pitchFamily="49" charset="0"/>
              </a:rPr>
              <a:t> to </a:t>
            </a:r>
            <a:r>
              <a:rPr lang="en-US" dirty="0" smtClean="0">
                <a:solidFill>
                  <a:srgbClr val="FFC000"/>
                </a:solidFill>
                <a:latin typeface="Consolas" panose="020B0609020204030204" pitchFamily="49" charset="0"/>
              </a:rPr>
              <a:t>$</a:t>
            </a:r>
            <a:r>
              <a:rPr lang="fr-FR" dirty="0" smtClean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dirty="0" smtClean="0">
                <a:solidFill>
                  <a:srgbClr val="FFC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latin typeface="Consolas" panose="020B0609020204030204" pitchFamily="49" charset="0"/>
              </a:rPr>
              <a:t>1</a:t>
            </a:r>
            <a:r>
              <a:rPr lang="en-US" dirty="0" smtClean="0">
                <a:solidFill>
                  <a:srgbClr val="FFC000"/>
                </a:solidFill>
                <a:latin typeface="Consolas" panose="020B0609020204030204" pitchFamily="49" charset="0"/>
              </a:rPr>
              <a:t>, $</a:t>
            </a:r>
            <a:r>
              <a:rPr lang="es-ES" dirty="0" err="1" smtClean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product</a:t>
            </a:r>
            <a:r>
              <a:rPr lang="en-US" dirty="0" smtClean="0">
                <a:solidFill>
                  <a:srgbClr val="FFC000"/>
                </a:solidFill>
                <a:latin typeface="Consolas" panose="020B0609020204030204" pitchFamily="49" charset="0"/>
              </a:rPr>
              <a:t>)}</a:t>
            </a:r>
            <a:endParaRPr lang="en-US" dirty="0">
              <a:solidFill>
                <a:srgbClr val="FFC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5239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31467"/>
            <a:ext cx="10363200" cy="914400"/>
          </a:xfrm>
        </p:spPr>
        <p:txBody>
          <a:bodyPr/>
          <a:lstStyle/>
          <a:p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Examples</a:t>
            </a:r>
            <a:r>
              <a:rPr lang="en-US" dirty="0" smtClean="0"/>
              <a:t> - 3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945867"/>
            <a:ext cx="10795000" cy="5409693"/>
          </a:xfrm>
        </p:spPr>
        <p:txBody>
          <a:bodyPr/>
          <a:lstStyle/>
          <a:p>
            <a:pPr marL="68580" indent="0">
              <a:buNone/>
            </a:pPr>
            <a:r>
              <a:rPr lang="en-US" dirty="0" smtClean="0">
                <a:solidFill>
                  <a:srgbClr val="FFC000"/>
                </a:solidFill>
                <a:latin typeface="Consolas" panose="020B0609020204030204" pitchFamily="49" charset="0"/>
              </a:rPr>
              <a:t>$gen2ToInf =&gt; </a:t>
            </a:r>
            <a:r>
              <a:rPr lang="en-US" dirty="0" err="1" smtClean="0">
                <a:solidFill>
                  <a:srgbClr val="FFC000"/>
                </a:solidFill>
                <a:latin typeface="Consolas" panose="020B0609020204030204" pitchFamily="49" charset="0"/>
              </a:rPr>
              <a:t>gn:take</a:t>
            </a:r>
            <a:r>
              <a:rPr lang="en-US" dirty="0" smtClean="0">
                <a:solidFill>
                  <a:srgbClr val="FFC000"/>
                </a:solidFill>
                <a:latin typeface="Consolas" panose="020B0609020204030204" pitchFamily="49" charset="0"/>
              </a:rPr>
              <a:t>(3) =&gt; </a:t>
            </a:r>
            <a:r>
              <a:rPr lang="en-US" dirty="0" err="1" smtClean="0">
                <a:solidFill>
                  <a:srgbClr val="FFC000"/>
                </a:solidFill>
                <a:latin typeface="Consolas" panose="020B0609020204030204" pitchFamily="49" charset="0"/>
              </a:rPr>
              <a:t>gn:to-array</a:t>
            </a:r>
            <a:r>
              <a:rPr lang="en-US" dirty="0" smtClean="0">
                <a:solidFill>
                  <a:srgbClr val="FFC000"/>
                </a:solidFill>
                <a:latin typeface="Consolas" panose="020B0609020204030204" pitchFamily="49" charset="0"/>
              </a:rPr>
              <a:t>()</a:t>
            </a:r>
          </a:p>
          <a:p>
            <a:pPr marL="68580" indent="0">
              <a:buNone/>
            </a:pPr>
            <a:r>
              <a:rPr lang="en-US" dirty="0" smtClean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[2, 3, 4]</a:t>
            </a:r>
          </a:p>
          <a:p>
            <a:pPr marL="68580" indent="0">
              <a:buNone/>
            </a:pPr>
            <a:r>
              <a:rPr lang="en-US" dirty="0" smtClean="0">
                <a:solidFill>
                  <a:srgbClr val="FFC000"/>
                </a:solidFill>
                <a:latin typeface="Consolas" panose="020B0609020204030204" pitchFamily="49" charset="0"/>
              </a:rPr>
              <a:t>$</a:t>
            </a:r>
            <a:r>
              <a:rPr lang="en-US" dirty="0" err="1" smtClean="0">
                <a:solidFill>
                  <a:srgbClr val="FFC000"/>
                </a:solidFill>
                <a:latin typeface="Consolas" panose="020B0609020204030204" pitchFamily="49" charset="0"/>
              </a:rPr>
              <a:t>genLeafAndAncestorNames</a:t>
            </a:r>
            <a:r>
              <a:rPr lang="en-US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=&gt; </a:t>
            </a:r>
            <a:r>
              <a:rPr lang="en-US" dirty="0" err="1" smtClean="0">
                <a:solidFill>
                  <a:srgbClr val="FFC000"/>
                </a:solidFill>
                <a:latin typeface="Consolas" panose="020B0609020204030204" pitchFamily="49" charset="0"/>
              </a:rPr>
              <a:t>gn:to-array</a:t>
            </a:r>
            <a:r>
              <a:rPr lang="en-US" dirty="0" smtClean="0">
                <a:solidFill>
                  <a:srgbClr val="FFC000"/>
                </a:solidFill>
                <a:latin typeface="Consolas" panose="020B0609020204030204" pitchFamily="49" charset="0"/>
              </a:rPr>
              <a:t>()</a:t>
            </a:r>
          </a:p>
          <a:p>
            <a:pPr marL="68580" indent="0">
              <a:buNone/>
            </a:pPr>
            <a:r>
              <a:rPr lang="en-US" dirty="0" smtClean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en-US" dirty="0" smtClean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“</a:t>
            </a:r>
            <a:r>
              <a:rPr lang="en-US" dirty="0" smtClean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z</a:t>
            </a:r>
            <a:r>
              <a:rPr lang="en-US" dirty="0" smtClean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”</a:t>
            </a:r>
            <a:r>
              <a:rPr lang="en-US" dirty="0" smtClean="0">
                <a:solidFill>
                  <a:srgbClr val="FFC000"/>
                </a:solidFill>
                <a:latin typeface="Consolas" panose="020B0609020204030204" pitchFamily="49" charset="0"/>
              </a:rPr>
              <a:t>, </a:t>
            </a:r>
            <a:r>
              <a:rPr lang="en-US" dirty="0" smtClean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“</a:t>
            </a:r>
            <a:r>
              <a:rPr lang="en-US" dirty="0" smtClean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dirty="0" smtClean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”</a:t>
            </a:r>
            <a:r>
              <a:rPr lang="en-US" dirty="0" smtClean="0">
                <a:solidFill>
                  <a:srgbClr val="FFC000"/>
                </a:solidFill>
                <a:latin typeface="Consolas" panose="020B0609020204030204" pitchFamily="49" charset="0"/>
              </a:rPr>
              <a:t>, </a:t>
            </a:r>
            <a:r>
              <a:rPr lang="en-US" dirty="0" smtClean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“</a:t>
            </a:r>
            <a:r>
              <a:rPr lang="en-US" dirty="0" smtClean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x</a:t>
            </a:r>
            <a:r>
              <a:rPr lang="en-US" dirty="0" smtClean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”</a:t>
            </a:r>
            <a:r>
              <a:rPr lang="en-US" dirty="0" smtClean="0">
                <a:solidFill>
                  <a:srgbClr val="FFC000"/>
                </a:solidFill>
                <a:latin typeface="Consolas" panose="020B0609020204030204" pitchFamily="49" charset="0"/>
              </a:rPr>
              <a:t>, </a:t>
            </a:r>
            <a:r>
              <a:rPr lang="en-US" dirty="0" smtClean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“</a:t>
            </a:r>
            <a:r>
              <a:rPr lang="en-US" dirty="0" smtClean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/</a:t>
            </a:r>
            <a:r>
              <a:rPr lang="en-US" dirty="0" smtClean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”</a:t>
            </a:r>
            <a:r>
              <a:rPr lang="en-US" dirty="0" smtClean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]</a:t>
            </a:r>
          </a:p>
          <a:p>
            <a:pPr marL="68580" indent="0">
              <a:buNone/>
            </a:pPr>
            <a:r>
              <a:rPr lang="en-US" dirty="0" smtClean="0">
                <a:solidFill>
                  <a:srgbClr val="FFC000"/>
                </a:solidFill>
                <a:latin typeface="Consolas" panose="020B0609020204030204" pitchFamily="49" charset="0"/>
              </a:rPr>
              <a:t>$gen2ToInf =&gt; </a:t>
            </a:r>
            <a:r>
              <a:rPr lang="en-US" dirty="0" err="1" smtClean="0">
                <a:solidFill>
                  <a:srgbClr val="FFC000"/>
                </a:solidFill>
                <a:latin typeface="Consolas" panose="020B0609020204030204" pitchFamily="49" charset="0"/>
              </a:rPr>
              <a:t>gn:take</a:t>
            </a:r>
            <a:r>
              <a:rPr lang="en-US" dirty="0" smtClean="0">
                <a:solidFill>
                  <a:srgbClr val="FFC000"/>
                </a:solidFill>
                <a:latin typeface="Consolas" panose="020B0609020204030204" pitchFamily="49" charset="0"/>
              </a:rPr>
              <a:t>(5) </a:t>
            </a:r>
          </a:p>
          <a:p>
            <a:pPr marL="68580" indent="0">
              <a:buNone/>
            </a:pPr>
            <a:r>
              <a:rPr lang="en-US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         =&gt; </a:t>
            </a:r>
            <a:r>
              <a:rPr lang="en-US" dirty="0" err="1" smtClean="0">
                <a:solidFill>
                  <a:srgbClr val="FFC000"/>
                </a:solidFill>
                <a:latin typeface="Consolas" panose="020B0609020204030204" pitchFamily="49" charset="0"/>
              </a:rPr>
              <a:t>gn:</a:t>
            </a:r>
            <a:r>
              <a:rPr lang="en-US" b="1" dirty="0" err="1" smtClean="0">
                <a:solidFill>
                  <a:srgbClr val="FFC000"/>
                </a:solidFill>
                <a:latin typeface="Consolas" panose="020B0609020204030204" pitchFamily="49" charset="0"/>
              </a:rPr>
              <a:t>fold-left</a:t>
            </a:r>
            <a:r>
              <a:rPr lang="en-US" dirty="0" smtClean="0">
                <a:solidFill>
                  <a:srgbClr val="FFC000"/>
                </a:solidFill>
                <a:latin typeface="Consolas" panose="020B0609020204030204" pitchFamily="49" charset="0"/>
              </a:rPr>
              <a:t>(0, </a:t>
            </a:r>
            <a:r>
              <a:rPr lang="en-US" dirty="0" err="1" smtClean="0">
                <a:solidFill>
                  <a:srgbClr val="FFC000"/>
                </a:solidFill>
                <a:latin typeface="Consolas" panose="020B0609020204030204" pitchFamily="49" charset="0"/>
              </a:rPr>
              <a:t>fn</a:t>
            </a:r>
            <a:r>
              <a:rPr lang="en-US" dirty="0" smtClean="0">
                <a:solidFill>
                  <a:srgbClr val="FFC000"/>
                </a:solidFill>
                <a:latin typeface="Consolas" panose="020B0609020204030204" pitchFamily="49" charset="0"/>
              </a:rPr>
              <a:t>($x, $y){$x + $y})</a:t>
            </a:r>
          </a:p>
          <a:p>
            <a:pPr marL="68580" indent="0">
              <a:buNone/>
            </a:pPr>
            <a:r>
              <a:rPr lang="en-US" sz="2200" dirty="0" smtClean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20</a:t>
            </a:r>
          </a:p>
          <a:p>
            <a:pPr marL="68580" indent="0">
              <a:buNone/>
            </a:pPr>
            <a:r>
              <a:rPr lang="en-US" dirty="0">
                <a:solidFill>
                  <a:srgbClr val="FFC000"/>
                </a:solidFill>
                <a:latin typeface="Consolas" panose="020B0609020204030204" pitchFamily="49" charset="0"/>
              </a:rPr>
              <a:t>$gen2ToInf =&gt; </a:t>
            </a:r>
            <a:r>
              <a:rPr lang="en-US" dirty="0" err="1">
                <a:solidFill>
                  <a:srgbClr val="FFC000"/>
                </a:solidFill>
                <a:latin typeface="Consolas" panose="020B0609020204030204" pitchFamily="49" charset="0"/>
              </a:rPr>
              <a:t>gn:</a:t>
            </a:r>
            <a:r>
              <a:rPr lang="en-US" b="1" dirty="0" err="1">
                <a:solidFill>
                  <a:srgbClr val="FFC000"/>
                </a:solidFill>
                <a:latin typeface="Consolas" panose="020B0609020204030204" pitchFamily="49" charset="0"/>
              </a:rPr>
              <a:t>subrange</a:t>
            </a:r>
            <a:r>
              <a:rPr lang="en-US" dirty="0">
                <a:solidFill>
                  <a:srgbClr val="FFC000"/>
                </a:solidFill>
                <a:latin typeface="Consolas" panose="020B0609020204030204" pitchFamily="49" charset="0"/>
              </a:rPr>
              <a:t>(4, 6) =&gt; </a:t>
            </a:r>
            <a:r>
              <a:rPr lang="en-US" dirty="0" err="1">
                <a:solidFill>
                  <a:srgbClr val="FFC000"/>
                </a:solidFill>
                <a:latin typeface="Consolas" panose="020B0609020204030204" pitchFamily="49" charset="0"/>
              </a:rPr>
              <a:t>gn:to-array</a:t>
            </a:r>
            <a:r>
              <a:rPr lang="en-US" dirty="0">
                <a:solidFill>
                  <a:srgbClr val="FFC000"/>
                </a:solidFill>
                <a:latin typeface="Consolas" panose="020B0609020204030204" pitchFamily="49" charset="0"/>
              </a:rPr>
              <a:t>()</a:t>
            </a:r>
          </a:p>
          <a:p>
            <a:pPr marL="68580" indent="0">
              <a:buNone/>
            </a:pP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[5, 6, 7]</a:t>
            </a:r>
          </a:p>
          <a:p>
            <a:pPr marL="68580" indent="0">
              <a:buNone/>
            </a:pPr>
            <a:endParaRPr lang="en-US" sz="2400" dirty="0">
              <a:solidFill>
                <a:srgbClr val="FFC000"/>
              </a:solidFill>
              <a:latin typeface="Consolas" panose="020B0609020204030204" pitchFamily="49" charset="0"/>
            </a:endParaRPr>
          </a:p>
          <a:p>
            <a:pPr marL="68580" indent="0">
              <a:buNone/>
            </a:pPr>
            <a:endParaRPr lang="en-US" sz="22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392702" y="1070241"/>
            <a:ext cx="2082018" cy="4501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318782" y="1070241"/>
            <a:ext cx="2082018" cy="4501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244862" y="1070241"/>
            <a:ext cx="2771335" cy="4501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1083212" y="2005077"/>
            <a:ext cx="9158067" cy="28136"/>
          </a:xfrm>
          <a:prstGeom prst="line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392702" y="2124081"/>
            <a:ext cx="5008098" cy="4501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ectangle 2"/>
          <p:cNvSpPr>
            <a:spLocks noChangeArrowheads="1"/>
          </p:cNvSpPr>
          <p:nvPr/>
        </p:nvSpPr>
        <p:spPr bwMode="auto">
          <a:xfrm>
            <a:off x="10342098" y="1204454"/>
            <a:ext cx="1268506" cy="19729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square" lIns="91440" tIns="7935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 Unicode MS" panose="020B0604020202020204" pitchFamily="34" charset="-128"/>
              </a:rPr>
              <a:t>&lt;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 Unicode MS" panose="020B0604020202020204" pitchFamily="34" charset="-128"/>
              </a:rPr>
              <a:t>x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 Unicode MS" panose="020B0604020202020204" pitchFamily="34" charset="-128"/>
              </a:rPr>
              <a:t>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chemeClr val="accent1"/>
                </a:solidFill>
                <a:latin typeface="Arial Unicode MS" panose="020B0604020202020204" pitchFamily="34" charset="-128"/>
              </a:rPr>
              <a:t> </a:t>
            </a:r>
            <a:r>
              <a:rPr lang="en-US" altLang="en-US" sz="2400" dirty="0" smtClean="0">
                <a:solidFill>
                  <a:schemeClr val="accent1"/>
                </a:solidFill>
                <a:latin typeface="Arial Unicode MS" panose="020B0604020202020204" pitchFamily="34" charset="-128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 Unicode MS" panose="020B0604020202020204" pitchFamily="34" charset="-128"/>
              </a:rPr>
              <a:t>&lt;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 Unicode MS" panose="020B0604020202020204" pitchFamily="34" charset="-128"/>
              </a:rPr>
              <a:t>y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 Unicode MS" panose="020B0604020202020204" pitchFamily="34" charset="-128"/>
              </a:rPr>
              <a:t>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chemeClr val="accent1"/>
                </a:solidFill>
                <a:latin typeface="Arial Unicode MS" panose="020B0604020202020204" pitchFamily="34" charset="-128"/>
              </a:rPr>
              <a:t> </a:t>
            </a:r>
            <a:r>
              <a:rPr lang="en-US" altLang="en-US" sz="2400" dirty="0" smtClean="0">
                <a:solidFill>
                  <a:schemeClr val="accent1"/>
                </a:solidFill>
                <a:latin typeface="Arial Unicode MS" panose="020B0604020202020204" pitchFamily="34" charset="-128"/>
              </a:rPr>
              <a:t>  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 Unicode MS" panose="020B0604020202020204" pitchFamily="34" charset="-128"/>
              </a:rPr>
              <a:t>&lt;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 Unicode MS" panose="020B0604020202020204" pitchFamily="34" charset="-128"/>
              </a:rPr>
              <a:t>z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 Unicode MS" panose="020B0604020202020204" pitchFamily="34" charset="-128"/>
              </a:rPr>
              <a:t>/&gt;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chemeClr val="accent1"/>
                </a:solidFill>
                <a:latin typeface="Arial Unicode MS" panose="020B0604020202020204" pitchFamily="34" charset="-128"/>
              </a:rPr>
              <a:t> </a:t>
            </a:r>
            <a:r>
              <a:rPr lang="en-US" altLang="en-US" sz="2400" dirty="0" smtClean="0">
                <a:solidFill>
                  <a:schemeClr val="accent1"/>
                </a:solidFill>
                <a:latin typeface="Arial Unicode MS" panose="020B0604020202020204" pitchFamily="34" charset="-128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 Unicode MS" panose="020B0604020202020204" pitchFamily="34" charset="-128"/>
              </a:rPr>
              <a:t>&lt;/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 Unicode MS" panose="020B0604020202020204" pitchFamily="34" charset="-128"/>
              </a:rPr>
              <a:t>y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 Unicode MS" panose="020B0604020202020204" pitchFamily="34" charset="-128"/>
              </a:rPr>
              <a:t>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 Unicode MS" panose="020B0604020202020204" pitchFamily="34" charset="-128"/>
              </a:rPr>
              <a:t>&lt;/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 Unicode MS" panose="020B0604020202020204" pitchFamily="34" charset="-128"/>
              </a:rPr>
              <a:t>x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 Unicode MS" panose="020B0604020202020204" pitchFamily="34" charset="-128"/>
              </a:rPr>
              <a:t>&gt;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</a:rPr>
              <a:t> 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accent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1118381" y="3149269"/>
            <a:ext cx="9158067" cy="28136"/>
          </a:xfrm>
          <a:prstGeom prst="line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1083211" y="4584369"/>
            <a:ext cx="9158067" cy="28136"/>
          </a:xfrm>
          <a:prstGeom prst="line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5821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11" grpId="0" animBg="1"/>
      <p:bldP spid="11" grpId="1" animBg="1"/>
      <p:bldP spid="12" grpId="0" animBg="1"/>
      <p:bldP spid="12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0"/>
            <a:ext cx="10363200" cy="91440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Examples</a:t>
            </a:r>
            <a:r>
              <a:rPr lang="en-US" dirty="0"/>
              <a:t> - </a:t>
            </a:r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688" y="552636"/>
            <a:ext cx="11723077" cy="6223302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US" sz="2500" dirty="0">
                <a:solidFill>
                  <a:srgbClr val="FFC000"/>
                </a:solidFill>
                <a:latin typeface="Consolas" panose="020B0609020204030204" pitchFamily="49" charset="0"/>
              </a:rPr>
              <a:t>$gen2ToInf =&gt; </a:t>
            </a:r>
            <a:r>
              <a:rPr lang="en-US" sz="2500" dirty="0" err="1">
                <a:solidFill>
                  <a:srgbClr val="FFC000"/>
                </a:solidFill>
                <a:latin typeface="Consolas" panose="020B0609020204030204" pitchFamily="49" charset="0"/>
              </a:rPr>
              <a:t>gn:</a:t>
            </a:r>
            <a:r>
              <a:rPr lang="en-US" sz="2500" b="1" dirty="0" err="1">
                <a:solidFill>
                  <a:srgbClr val="FFC000"/>
                </a:solidFill>
                <a:latin typeface="Consolas" panose="020B0609020204030204" pitchFamily="49" charset="0"/>
              </a:rPr>
              <a:t>for-each</a:t>
            </a:r>
            <a:r>
              <a:rPr lang="en-US" sz="2500" dirty="0">
                <a:solidFill>
                  <a:srgbClr val="FFC000"/>
                </a:solidFill>
                <a:latin typeface="Consolas" panose="020B0609020204030204" pitchFamily="49" charset="0"/>
              </a:rPr>
              <a:t>($</a:t>
            </a:r>
            <a:r>
              <a:rPr lang="en-US" sz="25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double</a:t>
            </a:r>
            <a:r>
              <a:rPr lang="en-US" sz="2500" dirty="0">
                <a:solidFill>
                  <a:srgbClr val="FFC000"/>
                </a:solidFill>
                <a:latin typeface="Consolas" panose="020B0609020204030204" pitchFamily="49" charset="0"/>
              </a:rPr>
              <a:t>) =&gt; </a:t>
            </a:r>
            <a:r>
              <a:rPr lang="en-US" sz="2500" dirty="0" err="1">
                <a:solidFill>
                  <a:srgbClr val="FFC000"/>
                </a:solidFill>
                <a:latin typeface="Consolas" panose="020B0609020204030204" pitchFamily="49" charset="0"/>
              </a:rPr>
              <a:t>gn:take</a:t>
            </a:r>
            <a:r>
              <a:rPr lang="en-US" sz="2500" dirty="0">
                <a:solidFill>
                  <a:srgbClr val="FFC000"/>
                </a:solidFill>
                <a:latin typeface="Consolas" panose="020B0609020204030204" pitchFamily="49" charset="0"/>
              </a:rPr>
              <a:t>(5</a:t>
            </a:r>
            <a:r>
              <a:rPr lang="en-US" sz="25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) </a:t>
            </a:r>
            <a:r>
              <a:rPr lang="en-US" sz="2500" dirty="0">
                <a:solidFill>
                  <a:srgbClr val="FFC000"/>
                </a:solidFill>
                <a:latin typeface="Consolas" panose="020B0609020204030204" pitchFamily="49" charset="0"/>
              </a:rPr>
              <a:t>=&gt; </a:t>
            </a:r>
            <a:r>
              <a:rPr lang="en-US" sz="2500" dirty="0" err="1">
                <a:solidFill>
                  <a:srgbClr val="FFC000"/>
                </a:solidFill>
                <a:latin typeface="Consolas" panose="020B0609020204030204" pitchFamily="49" charset="0"/>
              </a:rPr>
              <a:t>gn:to-array</a:t>
            </a:r>
            <a:r>
              <a:rPr lang="en-US" sz="25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()</a:t>
            </a:r>
          </a:p>
          <a:p>
            <a:pPr marL="68580" indent="0">
              <a:buNone/>
            </a:pPr>
            <a:r>
              <a:rPr lang="en-US" sz="25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[4, 6, 8, 10, 12</a:t>
            </a:r>
            <a:r>
              <a:rPr lang="en-US" sz="2500" dirty="0" smtClean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]</a:t>
            </a:r>
          </a:p>
          <a:p>
            <a:pPr marL="68580" indent="0">
              <a:buNone/>
            </a:pPr>
            <a:r>
              <a:rPr lang="en-US" sz="2500" dirty="0">
                <a:solidFill>
                  <a:srgbClr val="FFC000"/>
                </a:solidFill>
                <a:latin typeface="Consolas" panose="020B0609020204030204" pitchFamily="49" charset="0"/>
              </a:rPr>
              <a:t>$gen2ToInf =&gt; </a:t>
            </a:r>
            <a:r>
              <a:rPr lang="en-US" sz="2500" dirty="0" err="1">
                <a:solidFill>
                  <a:srgbClr val="FFC000"/>
                </a:solidFill>
                <a:latin typeface="Consolas" panose="020B0609020204030204" pitchFamily="49" charset="0"/>
              </a:rPr>
              <a:t>gn:</a:t>
            </a:r>
            <a:r>
              <a:rPr lang="en-US" sz="2500" b="1" dirty="0" err="1">
                <a:solidFill>
                  <a:srgbClr val="FFC000"/>
                </a:solidFill>
                <a:latin typeface="Consolas" panose="020B0609020204030204" pitchFamily="49" charset="0"/>
              </a:rPr>
              <a:t>filter</a:t>
            </a:r>
            <a:r>
              <a:rPr lang="en-US" sz="2500" dirty="0">
                <a:solidFill>
                  <a:srgbClr val="FFC000"/>
                </a:solidFill>
                <a:latin typeface="Consolas" panose="020B0609020204030204" pitchFamily="49" charset="0"/>
              </a:rPr>
              <a:t>(</a:t>
            </a:r>
            <a:r>
              <a:rPr lang="en-US" sz="2500" dirty="0" err="1">
                <a:solidFill>
                  <a:srgbClr val="FFC000"/>
                </a:solidFill>
                <a:latin typeface="Consolas" panose="020B0609020204030204" pitchFamily="49" charset="0"/>
              </a:rPr>
              <a:t>fn</a:t>
            </a:r>
            <a:r>
              <a:rPr lang="en-US" sz="2500" dirty="0">
                <a:solidFill>
                  <a:srgbClr val="FFC000"/>
                </a:solidFill>
                <a:latin typeface="Consolas" panose="020B0609020204030204" pitchFamily="49" charset="0"/>
              </a:rPr>
              <a:t>($</a:t>
            </a:r>
            <a:r>
              <a:rPr lang="en-US" sz="25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2500" dirty="0">
                <a:solidFill>
                  <a:srgbClr val="FFC000"/>
                </a:solidFill>
                <a:latin typeface="Consolas" panose="020B0609020204030204" pitchFamily="49" charset="0"/>
              </a:rPr>
              <a:t>){$</a:t>
            </a:r>
            <a:r>
              <a:rPr lang="en-US" sz="25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2500" dirty="0">
                <a:solidFill>
                  <a:srgbClr val="FFC000"/>
                </a:solidFill>
                <a:latin typeface="Consolas" panose="020B0609020204030204" pitchFamily="49" charset="0"/>
              </a:rPr>
              <a:t> mod </a:t>
            </a:r>
            <a:r>
              <a:rPr lang="en-US" sz="25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2</a:t>
            </a:r>
            <a:r>
              <a:rPr lang="en-US" sz="25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500" dirty="0" err="1">
                <a:solidFill>
                  <a:srgbClr val="FFC000"/>
                </a:solidFill>
                <a:latin typeface="Consolas" panose="020B0609020204030204" pitchFamily="49" charset="0"/>
              </a:rPr>
              <a:t>eq</a:t>
            </a:r>
            <a:r>
              <a:rPr lang="en-US" sz="25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5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500" dirty="0">
                <a:solidFill>
                  <a:srgbClr val="FFC000"/>
                </a:solidFill>
                <a:latin typeface="Consolas" panose="020B0609020204030204" pitchFamily="49" charset="0"/>
              </a:rPr>
              <a:t>}) =&gt; </a:t>
            </a:r>
            <a:r>
              <a:rPr lang="en-US" sz="2500" dirty="0" err="1">
                <a:solidFill>
                  <a:srgbClr val="FFC000"/>
                </a:solidFill>
                <a:latin typeface="Consolas" panose="020B0609020204030204" pitchFamily="49" charset="0"/>
              </a:rPr>
              <a:t>gn:take</a:t>
            </a:r>
            <a:r>
              <a:rPr lang="en-US" sz="2500" dirty="0">
                <a:solidFill>
                  <a:srgbClr val="FFC000"/>
                </a:solidFill>
                <a:latin typeface="Consolas" panose="020B0609020204030204" pitchFamily="49" charset="0"/>
              </a:rPr>
              <a:t>(10) </a:t>
            </a:r>
            <a:r>
              <a:rPr lang="en-US" sz="25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/>
            </a:r>
            <a:br>
              <a:rPr lang="en-US" sz="2500" dirty="0" smtClean="0">
                <a:solidFill>
                  <a:srgbClr val="FFC000"/>
                </a:solidFill>
                <a:latin typeface="Consolas" panose="020B0609020204030204" pitchFamily="49" charset="0"/>
              </a:rPr>
            </a:br>
            <a:r>
              <a:rPr lang="en-US" sz="25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          =&gt; </a:t>
            </a:r>
            <a:r>
              <a:rPr lang="en-US" sz="2500" dirty="0" err="1">
                <a:solidFill>
                  <a:srgbClr val="FFC000"/>
                </a:solidFill>
                <a:latin typeface="Consolas" panose="020B0609020204030204" pitchFamily="49" charset="0"/>
              </a:rPr>
              <a:t>gn:to-array</a:t>
            </a:r>
            <a:r>
              <a:rPr lang="en-US" sz="25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()</a:t>
            </a:r>
          </a:p>
          <a:p>
            <a:pPr marL="68580" indent="0">
              <a:buNone/>
            </a:pPr>
            <a:r>
              <a:rPr lang="en-US" sz="25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[3, 5, 7, 9, 11, 13, 15, 17, 19, 21</a:t>
            </a:r>
            <a:r>
              <a:rPr lang="en-US" sz="2500" dirty="0" smtClean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]</a:t>
            </a:r>
          </a:p>
          <a:p>
            <a:pPr marL="68580" indent="0">
              <a:buNone/>
            </a:pPr>
            <a:endParaRPr lang="en-US" sz="2500" dirty="0" smtClean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68580" indent="0">
              <a:buNone/>
            </a:pPr>
            <a:r>
              <a:rPr lang="en-US" sz="2100" dirty="0">
                <a:solidFill>
                  <a:srgbClr val="FFC000"/>
                </a:solidFill>
                <a:latin typeface="Consolas" panose="020B0609020204030204" pitchFamily="49" charset="0"/>
              </a:rPr>
              <a:t>$gen</a:t>
            </a:r>
            <a:r>
              <a:rPr lang="en-US" sz="2100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0</a:t>
            </a:r>
            <a:r>
              <a:rPr lang="en-US" sz="2100" dirty="0">
                <a:solidFill>
                  <a:srgbClr val="FFC000"/>
                </a:solidFill>
                <a:latin typeface="Consolas" panose="020B0609020204030204" pitchFamily="49" charset="0"/>
              </a:rPr>
              <a:t>toInf =&gt; </a:t>
            </a:r>
            <a:r>
              <a:rPr lang="en-US" sz="2100" dirty="0" err="1">
                <a:solidFill>
                  <a:srgbClr val="FFC000"/>
                </a:solidFill>
                <a:latin typeface="Consolas" panose="020B0609020204030204" pitchFamily="49" charset="0"/>
              </a:rPr>
              <a:t>gn:</a:t>
            </a:r>
            <a:r>
              <a:rPr lang="en-US" sz="2100" b="1" dirty="0" err="1">
                <a:solidFill>
                  <a:srgbClr val="FFC000"/>
                </a:solidFill>
                <a:latin typeface="Consolas" panose="020B0609020204030204" pitchFamily="49" charset="0"/>
              </a:rPr>
              <a:t>for-each</a:t>
            </a:r>
            <a:r>
              <a:rPr lang="en-US" sz="2100" dirty="0">
                <a:solidFill>
                  <a:srgbClr val="FFC000"/>
                </a:solidFill>
                <a:latin typeface="Consolas" panose="020B0609020204030204" pitchFamily="49" charset="0"/>
              </a:rPr>
              <a:t>(</a:t>
            </a:r>
            <a:r>
              <a:rPr lang="en-US" sz="2100" dirty="0" err="1">
                <a:solidFill>
                  <a:srgbClr val="FFC000"/>
                </a:solidFill>
                <a:latin typeface="Consolas" panose="020B0609020204030204" pitchFamily="49" charset="0"/>
              </a:rPr>
              <a:t>fn</a:t>
            </a:r>
            <a:r>
              <a:rPr lang="en-US" sz="2100" dirty="0">
                <a:solidFill>
                  <a:srgbClr val="FFC000"/>
                </a:solidFill>
                <a:latin typeface="Consolas" panose="020B0609020204030204" pitchFamily="49" charset="0"/>
              </a:rPr>
              <a:t>($</a:t>
            </a:r>
            <a:r>
              <a:rPr lang="en-US" sz="21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2100" dirty="0">
                <a:solidFill>
                  <a:srgbClr val="FFC000"/>
                </a:solidFill>
                <a:latin typeface="Consolas" panose="020B0609020204030204" pitchFamily="49" charset="0"/>
              </a:rPr>
              <a:t>){(</a:t>
            </a:r>
            <a:r>
              <a:rPr lang="en-US" sz="21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2</a:t>
            </a:r>
            <a:r>
              <a:rPr lang="en-US" sz="2100" dirty="0">
                <a:solidFill>
                  <a:srgbClr val="FFC000"/>
                </a:solidFill>
                <a:latin typeface="Consolas" panose="020B0609020204030204" pitchFamily="49" charset="0"/>
              </a:rPr>
              <a:t>*$</a:t>
            </a:r>
            <a:r>
              <a:rPr lang="en-US" sz="21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2100" dirty="0">
                <a:solidFill>
                  <a:srgbClr val="FFC000"/>
                </a:solidFill>
                <a:latin typeface="Consolas" panose="020B0609020204030204" pitchFamily="49" charset="0"/>
              </a:rPr>
              <a:t> + </a:t>
            </a:r>
            <a:r>
              <a:rPr lang="en-US" sz="21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100" dirty="0">
                <a:solidFill>
                  <a:srgbClr val="FFC000"/>
                </a:solidFill>
                <a:latin typeface="Consolas" panose="020B0609020204030204" pitchFamily="49" charset="0"/>
              </a:rPr>
              <a:t>) div $factorial(</a:t>
            </a:r>
            <a:r>
              <a:rPr lang="en-US" sz="21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2</a:t>
            </a:r>
            <a:r>
              <a:rPr lang="en-US" sz="2100" dirty="0">
                <a:solidFill>
                  <a:srgbClr val="FFC000"/>
                </a:solidFill>
                <a:latin typeface="Consolas" panose="020B0609020204030204" pitchFamily="49" charset="0"/>
              </a:rPr>
              <a:t>*</a:t>
            </a:r>
            <a:r>
              <a:rPr lang="en-US" sz="2100" dirty="0" err="1">
                <a:solidFill>
                  <a:srgbClr val="FFC000"/>
                </a:solidFill>
                <a:latin typeface="Consolas" panose="020B0609020204030204" pitchFamily="49" charset="0"/>
              </a:rPr>
              <a:t>xs:decimal</a:t>
            </a:r>
            <a:r>
              <a:rPr lang="en-US" sz="2100" dirty="0">
                <a:solidFill>
                  <a:srgbClr val="FFC000"/>
                </a:solidFill>
                <a:latin typeface="Consolas" panose="020B0609020204030204" pitchFamily="49" charset="0"/>
              </a:rPr>
              <a:t>($</a:t>
            </a:r>
            <a:r>
              <a:rPr lang="en-US" sz="21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sz="2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))})</a:t>
            </a:r>
            <a:br>
              <a:rPr lang="en-US" sz="2100" dirty="0" smtClean="0">
                <a:solidFill>
                  <a:srgbClr val="FFC000"/>
                </a:solidFill>
                <a:latin typeface="Consolas" panose="020B0609020204030204" pitchFamily="49" charset="0"/>
              </a:rPr>
            </a:br>
            <a:r>
              <a:rPr lang="en-US" sz="2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          </a:t>
            </a:r>
            <a:r>
              <a:rPr lang="en-US" sz="2100" dirty="0">
                <a:solidFill>
                  <a:srgbClr val="FFC000"/>
                </a:solidFill>
                <a:latin typeface="Consolas" panose="020B0609020204030204" pitchFamily="49" charset="0"/>
              </a:rPr>
              <a:t>=&gt; </a:t>
            </a:r>
            <a:r>
              <a:rPr lang="en-US" sz="2100" dirty="0" err="1" smtClean="0">
                <a:solidFill>
                  <a:srgbClr val="FFC000"/>
                </a:solidFill>
                <a:latin typeface="Consolas" panose="020B0609020204030204" pitchFamily="49" charset="0"/>
              </a:rPr>
              <a:t>gn:take</a:t>
            </a:r>
            <a:r>
              <a:rPr lang="en-US" sz="2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(8</a:t>
            </a:r>
            <a:r>
              <a:rPr lang="en-US" sz="2100" dirty="0">
                <a:solidFill>
                  <a:srgbClr val="FFC000"/>
                </a:solidFill>
                <a:latin typeface="Consolas" panose="020B0609020204030204" pitchFamily="49" charset="0"/>
              </a:rPr>
              <a:t>) =&gt; </a:t>
            </a:r>
            <a:r>
              <a:rPr lang="en-US" sz="2100" dirty="0" err="1">
                <a:solidFill>
                  <a:srgbClr val="FFC000"/>
                </a:solidFill>
                <a:latin typeface="Consolas" panose="020B0609020204030204" pitchFamily="49" charset="0"/>
              </a:rPr>
              <a:t>gn:fold-left</a:t>
            </a:r>
            <a:r>
              <a:rPr lang="en-US" sz="2100" dirty="0">
                <a:solidFill>
                  <a:srgbClr val="FFC000"/>
                </a:solidFill>
                <a:latin typeface="Consolas" panose="020B0609020204030204" pitchFamily="49" charset="0"/>
              </a:rPr>
              <a:t>(0, </a:t>
            </a:r>
            <a:r>
              <a:rPr lang="en-US" sz="2100" dirty="0" err="1">
                <a:solidFill>
                  <a:srgbClr val="FFC000"/>
                </a:solidFill>
                <a:latin typeface="Consolas" panose="020B0609020204030204" pitchFamily="49" charset="0"/>
              </a:rPr>
              <a:t>fn</a:t>
            </a:r>
            <a:r>
              <a:rPr lang="en-US" sz="2100" dirty="0">
                <a:solidFill>
                  <a:srgbClr val="FFC000"/>
                </a:solidFill>
                <a:latin typeface="Consolas" panose="020B0609020204030204" pitchFamily="49" charset="0"/>
              </a:rPr>
              <a:t>($</a:t>
            </a:r>
            <a:r>
              <a:rPr lang="en-US" sz="21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x</a:t>
            </a:r>
            <a:r>
              <a:rPr lang="en-US" sz="2100" dirty="0">
                <a:solidFill>
                  <a:srgbClr val="FFC000"/>
                </a:solidFill>
                <a:latin typeface="Consolas" panose="020B0609020204030204" pitchFamily="49" charset="0"/>
              </a:rPr>
              <a:t>, $</a:t>
            </a:r>
            <a:r>
              <a:rPr lang="en-US" sz="21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sz="2100" dirty="0">
                <a:solidFill>
                  <a:srgbClr val="FFC000"/>
                </a:solidFill>
                <a:latin typeface="Consolas" panose="020B0609020204030204" pitchFamily="49" charset="0"/>
              </a:rPr>
              <a:t>){$</a:t>
            </a:r>
            <a:r>
              <a:rPr lang="en-US" sz="21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x</a:t>
            </a:r>
            <a:r>
              <a:rPr lang="en-US" sz="2100" dirty="0">
                <a:solidFill>
                  <a:srgbClr val="FFC000"/>
                </a:solidFill>
                <a:latin typeface="Consolas" panose="020B0609020204030204" pitchFamily="49" charset="0"/>
              </a:rPr>
              <a:t> + $</a:t>
            </a:r>
            <a:r>
              <a:rPr lang="en-US" sz="21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y</a:t>
            </a:r>
            <a:r>
              <a:rPr lang="en-US" sz="21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})</a:t>
            </a:r>
          </a:p>
          <a:p>
            <a:pPr marL="68580" indent="0">
              <a:buNone/>
            </a:pPr>
            <a:r>
              <a:rPr lang="en-US" sz="2400" dirty="0" smtClean="0">
                <a:solidFill>
                  <a:schemeClr val="accent3">
                    <a:lumMod val="75000"/>
                  </a:schemeClr>
                </a:solidFill>
              </a:rPr>
              <a:t>2.718281828458229747    </a:t>
            </a:r>
            <a:r>
              <a:rPr lang="en-US" sz="2400" dirty="0" smtClean="0">
                <a:solidFill>
                  <a:srgbClr val="FFC000"/>
                </a:solidFill>
              </a:rPr>
              <a:t>(:</a:t>
            </a:r>
            <a:r>
              <a:rPr lang="en-US" sz="2400" dirty="0" smtClean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2400" b="1" dirty="0" smtClean="0">
                <a:solidFill>
                  <a:schemeClr val="accent5">
                    <a:lumMod val="75000"/>
                  </a:schemeClr>
                </a:solidFill>
              </a:rPr>
              <a:t>Euler’s constant </a:t>
            </a:r>
            <a:r>
              <a:rPr lang="en-US" sz="3200" dirty="0" smtClean="0">
                <a:solidFill>
                  <a:schemeClr val="accent3">
                    <a:lumMod val="75000"/>
                  </a:schemeClr>
                </a:solidFill>
              </a:rPr>
              <a:t>e</a:t>
            </a:r>
            <a:r>
              <a:rPr lang="en-US" sz="2400" dirty="0" smtClean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2400" dirty="0" smtClean="0">
                <a:solidFill>
                  <a:srgbClr val="FFC000"/>
                </a:solidFill>
              </a:rPr>
              <a:t>:)</a:t>
            </a:r>
          </a:p>
          <a:p>
            <a:pPr marL="68580" indent="0">
              <a:buNone/>
            </a:pPr>
            <a:r>
              <a:rPr lang="en-US" sz="2400" dirty="0" err="1">
                <a:solidFill>
                  <a:srgbClr val="FFC000"/>
                </a:solidFill>
                <a:latin typeface="Consolas" panose="020B0609020204030204" pitchFamily="49" charset="0"/>
              </a:rPr>
              <a:t>gn:</a:t>
            </a:r>
            <a:r>
              <a:rPr lang="en-US" sz="2400" b="1" dirty="0" err="1">
                <a:solidFill>
                  <a:srgbClr val="FFC000"/>
                </a:solidFill>
                <a:latin typeface="Consolas" panose="020B0609020204030204" pitchFamily="49" charset="0"/>
              </a:rPr>
              <a:t>empty-generator</a:t>
            </a: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 =&gt; </a:t>
            </a:r>
            <a:r>
              <a:rPr lang="en-US" sz="2400" dirty="0" err="1">
                <a:solidFill>
                  <a:srgbClr val="FFC000"/>
                </a:solidFill>
                <a:latin typeface="Consolas" panose="020B0609020204030204" pitchFamily="49" charset="0"/>
              </a:rPr>
              <a:t>gn:to-array</a:t>
            </a: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()</a:t>
            </a:r>
          </a:p>
          <a:p>
            <a:pPr marL="68580" indent="0">
              <a:buNone/>
            </a:pP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[]</a:t>
            </a:r>
          </a:p>
          <a:p>
            <a:pPr marL="68580" indent="0">
              <a:buNone/>
            </a:pPr>
            <a:endParaRPr lang="en-US" sz="21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351685" y="1472928"/>
            <a:ext cx="11430001" cy="28136"/>
          </a:xfrm>
          <a:prstGeom prst="line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351684" y="2772195"/>
            <a:ext cx="11430001" cy="28136"/>
          </a:xfrm>
          <a:prstGeom prst="line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351683" y="4564260"/>
            <a:ext cx="11430001" cy="28136"/>
          </a:xfrm>
          <a:prstGeom prst="line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3613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0"/>
            <a:ext cx="10363200" cy="91440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Examples</a:t>
            </a:r>
            <a:r>
              <a:rPr lang="en-US" dirty="0"/>
              <a:t> - </a:t>
            </a:r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798821"/>
            <a:ext cx="10363200" cy="4572000"/>
          </a:xfrm>
        </p:spPr>
        <p:txBody>
          <a:bodyPr>
            <a:normAutofit fontScale="77500" lnSpcReduction="20000"/>
          </a:bodyPr>
          <a:lstStyle/>
          <a:p>
            <a:pPr marL="68580" indent="0">
              <a:buNone/>
            </a:pPr>
            <a:r>
              <a:rPr lang="en-US" dirty="0" err="1">
                <a:solidFill>
                  <a:srgbClr val="FFC000"/>
                </a:solidFill>
              </a:rPr>
              <a:t>gn:</a:t>
            </a:r>
            <a:r>
              <a:rPr lang="en-US" b="1" dirty="0" err="1">
                <a:solidFill>
                  <a:srgbClr val="FFC000"/>
                </a:solidFill>
              </a:rPr>
              <a:t>make-generator</a:t>
            </a:r>
            <a:r>
              <a:rPr lang="en-US" dirty="0">
                <a:solidFill>
                  <a:srgbClr val="FFC000"/>
                </a:solidFill>
              </a:rPr>
              <a:t>(</a:t>
            </a:r>
            <a:r>
              <a:rPr lang="en-US" dirty="0" err="1">
                <a:solidFill>
                  <a:srgbClr val="FFC000"/>
                </a:solidFill>
              </a:rPr>
              <a:t>fn</a:t>
            </a:r>
            <a:r>
              <a:rPr lang="en-US" dirty="0">
                <a:solidFill>
                  <a:srgbClr val="FFC000"/>
                </a:solidFill>
              </a:rPr>
              <a:t>($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state</a:t>
            </a:r>
            <a:r>
              <a:rPr lang="en-US" dirty="0">
                <a:solidFill>
                  <a:srgbClr val="FFC000"/>
                </a:solidFill>
              </a:rPr>
              <a:t> as array(*))</a:t>
            </a:r>
          </a:p>
          <a:p>
            <a:pPr marL="68580" indent="0">
              <a:buNone/>
            </a:pPr>
            <a:r>
              <a:rPr lang="en-US" dirty="0">
                <a:solidFill>
                  <a:srgbClr val="FFC000"/>
                </a:solidFill>
              </a:rPr>
              <a:t>                  </a:t>
            </a:r>
            <a:r>
              <a:rPr lang="en-US" dirty="0" smtClean="0">
                <a:solidFill>
                  <a:srgbClr val="FFC000"/>
                </a:solidFill>
              </a:rPr>
              <a:t>              {                                                  </a:t>
            </a:r>
            <a:endParaRPr lang="en-US" dirty="0">
              <a:solidFill>
                <a:srgbClr val="FFC000"/>
              </a:solidFill>
            </a:endParaRPr>
          </a:p>
          <a:p>
            <a:pPr marL="68580" indent="0">
              <a:buNone/>
            </a:pPr>
            <a:r>
              <a:rPr lang="en-US" dirty="0">
                <a:solidFill>
                  <a:srgbClr val="FFC000"/>
                </a:solidFill>
              </a:rPr>
              <a:t>                   let $</a:t>
            </a:r>
            <a:r>
              <a:rPr lang="en-US" dirty="0" err="1">
                <a:solidFill>
                  <a:srgbClr val="FFC000"/>
                </a:solidFill>
              </a:rPr>
              <a:t>numGenerated</a:t>
            </a:r>
            <a:r>
              <a:rPr lang="en-US" dirty="0">
                <a:solidFill>
                  <a:srgbClr val="FFC000"/>
                </a:solidFill>
              </a:rPr>
              <a:t> := if(</a:t>
            </a:r>
            <a:r>
              <a:rPr lang="en-US" dirty="0" err="1">
                <a:solidFill>
                  <a:srgbClr val="FFC000"/>
                </a:solidFill>
              </a:rPr>
              <a:t>array:empty</a:t>
            </a:r>
            <a:r>
              <a:rPr lang="en-US" dirty="0">
                <a:solidFill>
                  <a:srgbClr val="FFC000"/>
                </a:solidFill>
              </a:rPr>
              <a:t>($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state</a:t>
            </a:r>
            <a:r>
              <a:rPr lang="en-US" dirty="0">
                <a:solidFill>
                  <a:srgbClr val="FFC000"/>
                </a:solidFill>
              </a:rPr>
              <a:t>)) then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0</a:t>
            </a:r>
          </a:p>
          <a:p>
            <a:pPr marL="68580" indent="0">
              <a:buNone/>
            </a:pPr>
            <a:r>
              <a:rPr lang="en-US" dirty="0">
                <a:solidFill>
                  <a:srgbClr val="FFC000"/>
                </a:solidFill>
              </a:rPr>
              <a:t>                                          </a:t>
            </a:r>
            <a:r>
              <a:rPr lang="en-US" dirty="0" smtClean="0">
                <a:solidFill>
                  <a:srgbClr val="FFC000"/>
                </a:solidFill>
              </a:rPr>
              <a:t>               else </a:t>
            </a:r>
            <a:r>
              <a:rPr lang="en-US" dirty="0">
                <a:solidFill>
                  <a:srgbClr val="FFC000"/>
                </a:solidFill>
              </a:rPr>
              <a:t>$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state</a:t>
            </a:r>
            <a:r>
              <a:rPr lang="en-US" dirty="0">
                <a:solidFill>
                  <a:srgbClr val="FFC000"/>
                </a:solidFill>
              </a:rPr>
              <a:t>(1)</a:t>
            </a:r>
          </a:p>
          <a:p>
            <a:pPr marL="68580" indent="0">
              <a:buNone/>
            </a:pPr>
            <a:r>
              <a:rPr lang="en-US" dirty="0">
                <a:solidFill>
                  <a:srgbClr val="FFC000"/>
                </a:solidFill>
              </a:rPr>
              <a:t>                     return</a:t>
            </a:r>
          </a:p>
          <a:p>
            <a:pPr marL="68580" indent="0">
              <a:buNone/>
            </a:pPr>
            <a:r>
              <a:rPr lang="en-US" dirty="0">
                <a:solidFill>
                  <a:srgbClr val="FFC000"/>
                </a:solidFill>
              </a:rPr>
              <a:t>                       if($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numGenerated</a:t>
            </a:r>
            <a:r>
              <a:rPr lang="en-US" dirty="0">
                <a:solidFill>
                  <a:srgbClr val="FFC000"/>
                </a:solidFill>
              </a:rPr>
              <a:t> le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9</a:t>
            </a:r>
            <a:r>
              <a:rPr lang="en-US" dirty="0">
                <a:solidFill>
                  <a:srgbClr val="FFC000"/>
                </a:solidFill>
              </a:rPr>
              <a:t>) </a:t>
            </a:r>
          </a:p>
          <a:p>
            <a:pPr marL="68580" indent="0">
              <a:buNone/>
            </a:pPr>
            <a:r>
              <a:rPr lang="en-US" dirty="0">
                <a:solidFill>
                  <a:srgbClr val="FFC000"/>
                </a:solidFill>
              </a:rPr>
              <a:t>                         then [ [$</a:t>
            </a:r>
            <a:r>
              <a:rPr lang="en-US" dirty="0" err="1">
                <a:solidFill>
                  <a:srgbClr val="FFC000"/>
                </a:solidFill>
              </a:rPr>
              <a:t>numGenerated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+ 1</a:t>
            </a:r>
            <a:r>
              <a:rPr lang="en-US" dirty="0">
                <a:solidFill>
                  <a:srgbClr val="FFC000"/>
                </a:solidFill>
              </a:rPr>
              <a:t>], [$</a:t>
            </a:r>
            <a:r>
              <a:rPr lang="en-US" dirty="0" err="1">
                <a:solidFill>
                  <a:srgbClr val="FFC000"/>
                </a:solidFill>
              </a:rPr>
              <a:t>numGenerated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+ 1</a:t>
            </a:r>
            <a:r>
              <a:rPr lang="en-US" dirty="0">
                <a:solidFill>
                  <a:srgbClr val="FFC000"/>
                </a:solidFill>
              </a:rPr>
              <a:t>] ]</a:t>
            </a:r>
          </a:p>
          <a:p>
            <a:pPr marL="68580" indent="0">
              <a:buNone/>
            </a:pPr>
            <a:r>
              <a:rPr lang="en-US" dirty="0">
                <a:solidFill>
                  <a:srgbClr val="FFC000"/>
                </a:solidFill>
              </a:rPr>
              <a:t>                         else [[-1], </a:t>
            </a:r>
            <a:r>
              <a:rPr lang="en-US" b="1" dirty="0" smtClean="0">
                <a:solidFill>
                  <a:schemeClr val="accent3">
                    <a:lumMod val="75000"/>
                  </a:schemeClr>
                </a:solidFill>
              </a:rPr>
              <a:t>[ ] </a:t>
            </a:r>
            <a:r>
              <a:rPr lang="en-US" dirty="0" smtClean="0">
                <a:solidFill>
                  <a:srgbClr val="FFC000"/>
                </a:solidFill>
              </a:rPr>
              <a:t>]</a:t>
            </a:r>
            <a:endParaRPr lang="en-US" dirty="0">
              <a:solidFill>
                <a:srgbClr val="FFC000"/>
              </a:solidFill>
            </a:endParaRPr>
          </a:p>
          <a:p>
            <a:pPr marL="68580" indent="0">
              <a:buNone/>
            </a:pPr>
            <a:r>
              <a:rPr lang="en-US" dirty="0">
                <a:solidFill>
                  <a:srgbClr val="FFC000"/>
                </a:solidFill>
              </a:rPr>
              <a:t>                   </a:t>
            </a:r>
            <a:r>
              <a:rPr lang="en-US" dirty="0" smtClean="0">
                <a:solidFill>
                  <a:srgbClr val="FFC000"/>
                </a:solidFill>
              </a:rPr>
              <a:t>            } </a:t>
            </a:r>
            <a:endParaRPr lang="en-US" dirty="0">
              <a:solidFill>
                <a:srgbClr val="FFC000"/>
              </a:solidFill>
            </a:endParaRPr>
          </a:p>
          <a:p>
            <a:pPr marL="68580" indent="0">
              <a:buNone/>
            </a:pPr>
            <a:r>
              <a:rPr lang="en-US" dirty="0">
                <a:solidFill>
                  <a:srgbClr val="FFC000"/>
                </a:solidFill>
              </a:rPr>
              <a:t>                   </a:t>
            </a:r>
            <a:r>
              <a:rPr lang="en-US" dirty="0" smtClean="0">
                <a:solidFill>
                  <a:srgbClr val="FFC000"/>
                </a:solidFill>
              </a:rPr>
              <a:t>            ) </a:t>
            </a:r>
            <a:r>
              <a:rPr lang="en-US" dirty="0">
                <a:solidFill>
                  <a:srgbClr val="FFC000"/>
                </a:solidFill>
              </a:rPr>
              <a:t>=&gt; </a:t>
            </a:r>
            <a:r>
              <a:rPr lang="en-US" dirty="0" err="1">
                <a:solidFill>
                  <a:srgbClr val="FFC000"/>
                </a:solidFill>
              </a:rPr>
              <a:t>gn:to-array</a:t>
            </a:r>
            <a:r>
              <a:rPr lang="en-US" dirty="0" smtClean="0">
                <a:solidFill>
                  <a:srgbClr val="FFC000"/>
                </a:solidFill>
              </a:rPr>
              <a:t>()</a:t>
            </a:r>
          </a:p>
          <a:p>
            <a:pPr marL="68580" indent="0">
              <a:buNone/>
            </a:pPr>
            <a:endParaRPr lang="en-US" dirty="0" smtClean="0">
              <a:solidFill>
                <a:srgbClr val="FFC000"/>
              </a:solidFill>
            </a:endParaRPr>
          </a:p>
          <a:p>
            <a:pPr marL="68580" indent="0">
              <a:buNone/>
            </a:pPr>
            <a:r>
              <a:rPr lang="en-US" dirty="0" smtClean="0">
                <a:solidFill>
                  <a:srgbClr val="FFC000"/>
                </a:solidFill>
              </a:rPr>
              <a:t>[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1, 2, 3, 4, 5, 6, 7, 8, 9, 10</a:t>
            </a:r>
            <a:r>
              <a:rPr lang="en-US" dirty="0">
                <a:solidFill>
                  <a:srgbClr val="FFC000"/>
                </a:solidFill>
              </a:rPr>
              <a:t>]</a:t>
            </a:r>
          </a:p>
        </p:txBody>
      </p:sp>
      <p:sp>
        <p:nvSpPr>
          <p:cNvPr id="4" name="Rectangle 3"/>
          <p:cNvSpPr/>
          <p:nvPr/>
        </p:nvSpPr>
        <p:spPr>
          <a:xfrm>
            <a:off x="4047744" y="792479"/>
            <a:ext cx="2767585" cy="414529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879654" y="1418825"/>
            <a:ext cx="8532058" cy="273686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818864" y="1511808"/>
            <a:ext cx="4361455" cy="78207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106144" y="2597017"/>
            <a:ext cx="7805696" cy="11337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4837174" y="3595833"/>
            <a:ext cx="2283185" cy="369333"/>
            <a:chOff x="5254752" y="4210549"/>
            <a:chExt cx="2283185" cy="369333"/>
          </a:xfrm>
        </p:grpSpPr>
        <p:sp>
          <p:nvSpPr>
            <p:cNvPr id="8" name="TextBox 7"/>
            <p:cNvSpPr txBox="1"/>
            <p:nvPr/>
          </p:nvSpPr>
          <p:spPr>
            <a:xfrm>
              <a:off x="6172433" y="4210550"/>
              <a:ext cx="1365504" cy="369332"/>
            </a:xfrm>
            <a:prstGeom prst="rect">
              <a:avLst/>
            </a:prstGeom>
            <a:solidFill>
              <a:schemeClr val="tx1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FF0000"/>
                  </a:solidFill>
                </a:rPr>
                <a:t>End of data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10" name="Straight Arrow Connector 9"/>
            <p:cNvCxnSpPr/>
            <p:nvPr/>
          </p:nvCxnSpPr>
          <p:spPr>
            <a:xfrm flipH="1" flipV="1">
              <a:off x="5254752" y="4210549"/>
              <a:ext cx="917682" cy="184667"/>
            </a:xfrm>
            <a:prstGeom prst="straightConnector1">
              <a:avLst/>
            </a:prstGeom>
            <a:ln w="41275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01008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6" grpId="0" animBg="1"/>
      <p:bldP spid="6" grpId="1" animBg="1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0"/>
            <a:ext cx="10363200" cy="938784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Examples</a:t>
            </a:r>
            <a:r>
              <a:rPr lang="en-US" dirty="0"/>
              <a:t> - </a:t>
            </a:r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146048"/>
            <a:ext cx="11643360" cy="5888736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let $</a:t>
            </a:r>
            <a:r>
              <a:rPr lang="en-US" sz="2400" dirty="0" err="1">
                <a:solidFill>
                  <a:srgbClr val="FFC000"/>
                </a:solidFill>
                <a:latin typeface="Consolas" panose="020B0609020204030204" pitchFamily="49" charset="0"/>
              </a:rPr>
              <a:t>allNumbers</a:t>
            </a: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 :=  </a:t>
            </a:r>
            <a:r>
              <a:rPr lang="en-US" sz="2400" dirty="0" err="1">
                <a:solidFill>
                  <a:srgbClr val="FFC000"/>
                </a:solidFill>
                <a:latin typeface="Consolas" panose="020B0609020204030204" pitchFamily="49" charset="0"/>
              </a:rPr>
              <a:t>gn:</a:t>
            </a:r>
            <a:r>
              <a:rPr lang="en-US" sz="2400" b="1" dirty="0" err="1">
                <a:solidFill>
                  <a:srgbClr val="FFC000"/>
                </a:solidFill>
                <a:latin typeface="Consolas" panose="020B0609020204030204" pitchFamily="49" charset="0"/>
              </a:rPr>
              <a:t>make-generator</a:t>
            </a: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FFC000"/>
                </a:solidFill>
                <a:latin typeface="Consolas" panose="020B0609020204030204" pitchFamily="49" charset="0"/>
              </a:rPr>
              <a:t>fn</a:t>
            </a: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($state as array(*))</a:t>
            </a:r>
          </a:p>
          <a:p>
            <a:pPr marL="68580" indent="0">
              <a:buNone/>
            </a:pP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                    {</a:t>
            </a:r>
          </a:p>
          <a:p>
            <a:pPr marL="68580" indent="0">
              <a:buNone/>
            </a:pP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                      let $</a:t>
            </a:r>
            <a:r>
              <a:rPr lang="en-US" sz="2400" dirty="0" err="1">
                <a:solidFill>
                  <a:srgbClr val="FFC000"/>
                </a:solidFill>
                <a:latin typeface="Consolas" panose="020B0609020204030204" pitchFamily="49" charset="0"/>
              </a:rPr>
              <a:t>numGenerated</a:t>
            </a: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 := if(</a:t>
            </a:r>
            <a:r>
              <a:rPr lang="en-US" sz="2400" dirty="0" err="1">
                <a:solidFill>
                  <a:srgbClr val="FFC000"/>
                </a:solidFill>
                <a:latin typeface="Consolas" panose="020B0609020204030204" pitchFamily="49" charset="0"/>
              </a:rPr>
              <a:t>array:empty</a:t>
            </a: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($state)) </a:t>
            </a:r>
          </a:p>
          <a:p>
            <a:pPr marL="68580" indent="0">
              <a:buNone/>
            </a:pP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                                              then 0</a:t>
            </a:r>
          </a:p>
          <a:p>
            <a:pPr marL="68580" indent="0">
              <a:buNone/>
            </a:pP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                                              else $state(1)</a:t>
            </a:r>
          </a:p>
          <a:p>
            <a:pPr marL="68580" indent="0">
              <a:buNone/>
            </a:pP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                        return</a:t>
            </a:r>
          </a:p>
          <a:p>
            <a:pPr marL="68580" indent="0">
              <a:buNone/>
            </a:pP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                         </a:t>
            </a:r>
            <a:r>
              <a:rPr lang="en-US" sz="24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[[$</a:t>
            </a:r>
            <a:r>
              <a:rPr lang="en-US" sz="2400" dirty="0" err="1">
                <a:solidFill>
                  <a:srgbClr val="FFC000"/>
                </a:solidFill>
                <a:latin typeface="Consolas" panose="020B0609020204030204" pitchFamily="49" charset="0"/>
              </a:rPr>
              <a:t>numGenerated</a:t>
            </a: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 + 1], [$</a:t>
            </a:r>
            <a:r>
              <a:rPr lang="en-US" sz="2400" dirty="0" err="1">
                <a:solidFill>
                  <a:srgbClr val="FFC000"/>
                </a:solidFill>
                <a:latin typeface="Consolas" panose="020B0609020204030204" pitchFamily="49" charset="0"/>
              </a:rPr>
              <a:t>numGenerated</a:t>
            </a: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 + 1</a:t>
            </a:r>
            <a:r>
              <a:rPr lang="en-US" sz="24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]]</a:t>
            </a:r>
            <a:endParaRPr lang="en-US" sz="2400" dirty="0">
              <a:solidFill>
                <a:srgbClr val="FFC000"/>
              </a:solidFill>
              <a:latin typeface="Consolas" panose="020B0609020204030204" pitchFamily="49" charset="0"/>
            </a:endParaRPr>
          </a:p>
          <a:p>
            <a:pPr marL="68580" indent="0">
              <a:buNone/>
            </a:pP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                      }) </a:t>
            </a:r>
          </a:p>
          <a:p>
            <a:pPr marL="68580" indent="0">
              <a:buNone/>
            </a:pP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      return ($</a:t>
            </a:r>
            <a:r>
              <a:rPr lang="en-US" sz="2400" dirty="0" err="1">
                <a:solidFill>
                  <a:srgbClr val="FFC000"/>
                </a:solidFill>
                <a:latin typeface="Consolas" panose="020B0609020204030204" pitchFamily="49" charset="0"/>
              </a:rPr>
              <a:t>allNumbers</a:t>
            </a: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 =&gt; </a:t>
            </a:r>
            <a:r>
              <a:rPr lang="en-US" sz="2400" dirty="0" err="1">
                <a:solidFill>
                  <a:srgbClr val="FFC000"/>
                </a:solidFill>
                <a:latin typeface="Consolas" panose="020B0609020204030204" pitchFamily="49" charset="0"/>
              </a:rPr>
              <a:t>gn:value</a:t>
            </a: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(), </a:t>
            </a:r>
          </a:p>
          <a:p>
            <a:pPr marL="68580" indent="0">
              <a:buNone/>
            </a:pP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              $</a:t>
            </a:r>
            <a:r>
              <a:rPr lang="en-US" sz="2400" dirty="0" err="1">
                <a:solidFill>
                  <a:srgbClr val="FFC000"/>
                </a:solidFill>
                <a:latin typeface="Consolas" panose="020B0609020204030204" pitchFamily="49" charset="0"/>
              </a:rPr>
              <a:t>allNumbers</a:t>
            </a: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 =&gt; </a:t>
            </a:r>
            <a:r>
              <a:rPr lang="en-US" sz="2400" dirty="0" err="1">
                <a:solidFill>
                  <a:srgbClr val="FFC000"/>
                </a:solidFill>
                <a:latin typeface="Consolas" panose="020B0609020204030204" pitchFamily="49" charset="0"/>
              </a:rPr>
              <a:t>gn:subrange</a:t>
            </a: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(10, 15) =&gt; </a:t>
            </a:r>
            <a:r>
              <a:rPr lang="en-US" sz="2400" dirty="0" err="1">
                <a:solidFill>
                  <a:srgbClr val="FFC000"/>
                </a:solidFill>
                <a:latin typeface="Consolas" panose="020B0609020204030204" pitchFamily="49" charset="0"/>
              </a:rPr>
              <a:t>gn:to-array</a:t>
            </a:r>
            <a:r>
              <a:rPr lang="en-US" sz="24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())</a:t>
            </a:r>
          </a:p>
          <a:p>
            <a:pPr marL="68580" indent="0">
              <a:buNone/>
            </a:pP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1, </a:t>
            </a: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10, 11, 12, 13, 14, 15</a:t>
            </a: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4" name="Rectangle 3"/>
          <p:cNvSpPr/>
          <p:nvPr/>
        </p:nvSpPr>
        <p:spPr>
          <a:xfrm>
            <a:off x="6961632" y="1146048"/>
            <a:ext cx="3779520" cy="414529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011168" y="1663315"/>
            <a:ext cx="8071104" cy="3176909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793969" y="2072640"/>
            <a:ext cx="4117615" cy="12749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645152" y="3450334"/>
            <a:ext cx="7351776" cy="9753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143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6" grpId="0" animBg="1"/>
      <p:bldP spid="6" grpId="1" animBg="1"/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0"/>
            <a:ext cx="10363200" cy="804672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Examples</a:t>
            </a:r>
            <a:r>
              <a:rPr lang="en-US" dirty="0"/>
              <a:t> - </a:t>
            </a:r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408" y="710664"/>
            <a:ext cx="11399520" cy="4572000"/>
          </a:xfrm>
        </p:spPr>
        <p:txBody>
          <a:bodyPr>
            <a:normAutofit fontScale="92500" lnSpcReduction="10000"/>
          </a:bodyPr>
          <a:lstStyle/>
          <a:p>
            <a:pPr marL="68580" indent="0">
              <a:buNone/>
            </a:pPr>
            <a:r>
              <a:rPr lang="en-US" sz="24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let </a:t>
            </a: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$ar1 := [-100, -4, 1, 3, 5, 7, 9, 11],</a:t>
            </a:r>
          </a:p>
          <a:p>
            <a:pPr marL="68580" indent="0">
              <a:buNone/>
            </a:pP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$</a:t>
            </a: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ar2 :=  [-100, -90, -80, -70, -60, -50],</a:t>
            </a:r>
          </a:p>
          <a:p>
            <a:pPr marL="68580" indent="0">
              <a:buNone/>
            </a:pP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$</a:t>
            </a: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ar3 := [-10, -8, -6, -4, -2, 0, 15],</a:t>
            </a:r>
          </a:p>
          <a:p>
            <a:pPr marL="68580" indent="0">
              <a:buNone/>
            </a:pP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   </a:t>
            </a:r>
            <a:r>
              <a:rPr lang="en-US" sz="24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$</a:t>
            </a: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gn1 := </a:t>
            </a:r>
            <a:r>
              <a:rPr lang="en-US" sz="2400" dirty="0" err="1">
                <a:solidFill>
                  <a:srgbClr val="FFC000"/>
                </a:solidFill>
                <a:latin typeface="Consolas" panose="020B0609020204030204" pitchFamily="49" charset="0"/>
              </a:rPr>
              <a:t>gn:make-generator-from-array</a:t>
            </a: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($ar1),</a:t>
            </a:r>
          </a:p>
          <a:p>
            <a:pPr marL="68580" indent="0">
              <a:buNone/>
            </a:pP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   </a:t>
            </a:r>
            <a:r>
              <a:rPr lang="en-US" sz="24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$gn2 := </a:t>
            </a:r>
            <a:r>
              <a:rPr lang="en-US" sz="2400" dirty="0" err="1">
                <a:solidFill>
                  <a:srgbClr val="FFC000"/>
                </a:solidFill>
                <a:latin typeface="Consolas" panose="020B0609020204030204" pitchFamily="49" charset="0"/>
              </a:rPr>
              <a:t>gn:make-generator-from-array</a:t>
            </a: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($ar2),</a:t>
            </a:r>
          </a:p>
          <a:p>
            <a:pPr marL="68580" indent="0">
              <a:buNone/>
            </a:pP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$</a:t>
            </a: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gn3 := </a:t>
            </a:r>
            <a:r>
              <a:rPr lang="en-US" sz="2400" dirty="0" err="1">
                <a:solidFill>
                  <a:srgbClr val="FFC000"/>
                </a:solidFill>
                <a:latin typeface="Consolas" panose="020B0609020204030204" pitchFamily="49" charset="0"/>
              </a:rPr>
              <a:t>gn:make-generator-from-array</a:t>
            </a: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($ar3),</a:t>
            </a:r>
          </a:p>
          <a:p>
            <a:pPr marL="68580" indent="0">
              <a:buNone/>
            </a:pP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   </a:t>
            </a:r>
            <a:r>
              <a:rPr lang="en-US" sz="24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$</a:t>
            </a:r>
            <a:r>
              <a:rPr lang="en-US" sz="2400" dirty="0" err="1">
                <a:solidFill>
                  <a:srgbClr val="FFC000"/>
                </a:solidFill>
                <a:latin typeface="Consolas" panose="020B0609020204030204" pitchFamily="49" charset="0"/>
              </a:rPr>
              <a:t>genOfGens</a:t>
            </a: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 := </a:t>
            </a:r>
            <a:r>
              <a:rPr lang="en-US" sz="2400" dirty="0" err="1">
                <a:solidFill>
                  <a:srgbClr val="FFC000"/>
                </a:solidFill>
                <a:latin typeface="Consolas" panose="020B0609020204030204" pitchFamily="49" charset="0"/>
              </a:rPr>
              <a:t>gn:</a:t>
            </a:r>
            <a:r>
              <a:rPr lang="en-US" sz="2400" b="1" dirty="0" err="1">
                <a:solidFill>
                  <a:srgbClr val="FFC000"/>
                </a:solidFill>
                <a:latin typeface="Consolas" panose="020B0609020204030204" pitchFamily="49" charset="0"/>
              </a:rPr>
              <a:t>make-generator-from-array</a:t>
            </a: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([$gn1, $gn2</a:t>
            </a:r>
            <a:r>
              <a:rPr lang="en-US" sz="24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, $</a:t>
            </a: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gn3])</a:t>
            </a:r>
          </a:p>
          <a:p>
            <a:pPr marL="68580" indent="0">
              <a:buNone/>
            </a:pP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  </a:t>
            </a:r>
            <a:r>
              <a:rPr lang="en-US" sz="24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return</a:t>
            </a:r>
            <a:endParaRPr lang="en-US" sz="2400" dirty="0">
              <a:solidFill>
                <a:srgbClr val="FFC000"/>
              </a:solidFill>
              <a:latin typeface="Consolas" panose="020B0609020204030204" pitchFamily="49" charset="0"/>
            </a:endParaRPr>
          </a:p>
          <a:p>
            <a:pPr marL="68580" indent="0">
              <a:buNone/>
            </a:pP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 err="1" smtClean="0">
                <a:solidFill>
                  <a:srgbClr val="FFC000"/>
                </a:solidFill>
                <a:latin typeface="Consolas" panose="020B0609020204030204" pitchFamily="49" charset="0"/>
              </a:rPr>
              <a:t>gn:</a:t>
            </a:r>
            <a:r>
              <a:rPr lang="en-US" sz="2400" b="1" dirty="0" err="1" smtClean="0">
                <a:solidFill>
                  <a:srgbClr val="FFC000"/>
                </a:solidFill>
                <a:latin typeface="Consolas" panose="020B0609020204030204" pitchFamily="49" charset="0"/>
              </a:rPr>
              <a:t>merge-sorted-generators</a:t>
            </a: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($</a:t>
            </a:r>
            <a:r>
              <a:rPr lang="en-US" sz="2400" dirty="0" err="1">
                <a:solidFill>
                  <a:srgbClr val="FFC000"/>
                </a:solidFill>
                <a:latin typeface="Consolas" panose="020B0609020204030204" pitchFamily="49" charset="0"/>
              </a:rPr>
              <a:t>genOfGens</a:t>
            </a: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) =&gt; </a:t>
            </a:r>
            <a:r>
              <a:rPr lang="en-US" sz="2400" dirty="0" err="1">
                <a:solidFill>
                  <a:srgbClr val="FFC000"/>
                </a:solidFill>
                <a:latin typeface="Consolas" panose="020B0609020204030204" pitchFamily="49" charset="0"/>
              </a:rPr>
              <a:t>gn:to-array</a:t>
            </a:r>
            <a:r>
              <a:rPr lang="en-US" sz="24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()</a:t>
            </a:r>
          </a:p>
          <a:p>
            <a:pPr marL="68580" indent="0">
              <a:buNone/>
            </a:pPr>
            <a:endParaRPr lang="en-US" sz="2400" dirty="0">
              <a:solidFill>
                <a:srgbClr val="FFC000"/>
              </a:solidFill>
              <a:latin typeface="Consolas" panose="020B0609020204030204" pitchFamily="49" charset="0"/>
            </a:endParaRPr>
          </a:p>
          <a:p>
            <a:pPr marL="68580" indent="0">
              <a:buNone/>
            </a:pP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-100</a:t>
            </a: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-100</a:t>
            </a: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-90</a:t>
            </a: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-80</a:t>
            </a: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-70</a:t>
            </a: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-60</a:t>
            </a: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-50</a:t>
            </a: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-10</a:t>
            </a: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-8</a:t>
            </a: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-6</a:t>
            </a: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-4</a:t>
            </a: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-4</a:t>
            </a: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-2</a:t>
            </a: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3</a:t>
            </a: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5</a:t>
            </a: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7</a:t>
            </a: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9</a:t>
            </a: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11</a:t>
            </a: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15</a:t>
            </a:r>
            <a:r>
              <a:rPr lang="en-US" sz="2400" dirty="0">
                <a:solidFill>
                  <a:srgbClr val="FFC000"/>
                </a:solidFill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7696" y="743712"/>
            <a:ext cx="6437376" cy="109728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377696" y="1943901"/>
            <a:ext cx="6778752" cy="111131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7696" y="3055218"/>
            <a:ext cx="9607296" cy="40009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219200" y="3891492"/>
            <a:ext cx="8729472" cy="30295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125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-121920"/>
            <a:ext cx="10363200" cy="768096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Examples</a:t>
            </a:r>
            <a:r>
              <a:rPr lang="en-US" dirty="0"/>
              <a:t> - </a:t>
            </a:r>
            <a:r>
              <a:rPr lang="en-US" dirty="0" smtClean="0"/>
              <a:t>10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" y="552168"/>
            <a:ext cx="12070080" cy="4572000"/>
          </a:xfrm>
        </p:spPr>
        <p:txBody>
          <a:bodyPr>
            <a:normAutofit lnSpcReduction="10000"/>
          </a:bodyPr>
          <a:lstStyle/>
          <a:p>
            <a:pPr marL="68580" indent="0">
              <a:buNone/>
            </a:pPr>
            <a:r>
              <a:rPr lang="en-US" sz="2500" dirty="0">
                <a:solidFill>
                  <a:srgbClr val="FFC000"/>
                </a:solidFill>
                <a:latin typeface="Consolas" panose="020B0609020204030204" pitchFamily="49" charset="0"/>
              </a:rPr>
              <a:t>let $gn1 := $gen2ToInf =&gt; </a:t>
            </a:r>
            <a:r>
              <a:rPr lang="en-US" sz="2500" dirty="0" err="1">
                <a:solidFill>
                  <a:srgbClr val="FFC000"/>
                </a:solidFill>
                <a:latin typeface="Consolas" panose="020B0609020204030204" pitchFamily="49" charset="0"/>
              </a:rPr>
              <a:t>gn:filter</a:t>
            </a:r>
            <a:r>
              <a:rPr lang="en-US" sz="2500" dirty="0">
                <a:solidFill>
                  <a:srgbClr val="FFC000"/>
                </a:solidFill>
                <a:latin typeface="Consolas" panose="020B0609020204030204" pitchFamily="49" charset="0"/>
              </a:rPr>
              <a:t>(</a:t>
            </a:r>
            <a:r>
              <a:rPr lang="en-US" sz="2500" dirty="0" err="1">
                <a:solidFill>
                  <a:srgbClr val="FFC000"/>
                </a:solidFill>
                <a:latin typeface="Consolas" panose="020B0609020204030204" pitchFamily="49" charset="0"/>
              </a:rPr>
              <a:t>fn</a:t>
            </a:r>
            <a:r>
              <a:rPr lang="en-US" sz="2500" dirty="0">
                <a:solidFill>
                  <a:srgbClr val="FFC000"/>
                </a:solidFill>
                <a:latin typeface="Consolas" panose="020B0609020204030204" pitchFamily="49" charset="0"/>
              </a:rPr>
              <a:t>($n){$n mod 2 </a:t>
            </a:r>
            <a:r>
              <a:rPr lang="en-US" sz="2500" dirty="0" err="1">
                <a:solidFill>
                  <a:srgbClr val="FFC000"/>
                </a:solidFill>
                <a:latin typeface="Consolas" panose="020B0609020204030204" pitchFamily="49" charset="0"/>
              </a:rPr>
              <a:t>eq</a:t>
            </a:r>
            <a:r>
              <a:rPr lang="en-US" sz="2500" dirty="0">
                <a:solidFill>
                  <a:srgbClr val="FFC000"/>
                </a:solidFill>
                <a:latin typeface="Consolas" panose="020B0609020204030204" pitchFamily="49" charset="0"/>
              </a:rPr>
              <a:t> 0}),</a:t>
            </a:r>
          </a:p>
          <a:p>
            <a:pPr marL="68580" indent="0">
              <a:buNone/>
            </a:pPr>
            <a:r>
              <a:rPr lang="en-US" sz="2500" dirty="0">
                <a:solidFill>
                  <a:srgbClr val="FFC000"/>
                </a:solidFill>
                <a:latin typeface="Consolas" panose="020B0609020204030204" pitchFamily="49" charset="0"/>
              </a:rPr>
              <a:t>    </a:t>
            </a:r>
            <a:r>
              <a:rPr lang="en-US" sz="25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$</a:t>
            </a:r>
            <a:r>
              <a:rPr lang="en-US" sz="2500" dirty="0">
                <a:solidFill>
                  <a:srgbClr val="FFC000"/>
                </a:solidFill>
                <a:latin typeface="Consolas" panose="020B0609020204030204" pitchFamily="49" charset="0"/>
              </a:rPr>
              <a:t>gn2 := $gen2ToInf =&gt; </a:t>
            </a:r>
            <a:r>
              <a:rPr lang="en-US" sz="2500" dirty="0" err="1">
                <a:solidFill>
                  <a:srgbClr val="FFC000"/>
                </a:solidFill>
                <a:latin typeface="Consolas" panose="020B0609020204030204" pitchFamily="49" charset="0"/>
              </a:rPr>
              <a:t>gn:filter</a:t>
            </a:r>
            <a:r>
              <a:rPr lang="en-US" sz="2500" dirty="0">
                <a:solidFill>
                  <a:srgbClr val="FFC000"/>
                </a:solidFill>
                <a:latin typeface="Consolas" panose="020B0609020204030204" pitchFamily="49" charset="0"/>
              </a:rPr>
              <a:t>(</a:t>
            </a:r>
            <a:r>
              <a:rPr lang="en-US" sz="2500" dirty="0" err="1">
                <a:solidFill>
                  <a:srgbClr val="FFC000"/>
                </a:solidFill>
                <a:latin typeface="Consolas" panose="020B0609020204030204" pitchFamily="49" charset="0"/>
              </a:rPr>
              <a:t>fn</a:t>
            </a:r>
            <a:r>
              <a:rPr lang="en-US" sz="2500" dirty="0">
                <a:solidFill>
                  <a:srgbClr val="FFC000"/>
                </a:solidFill>
                <a:latin typeface="Consolas" panose="020B0609020204030204" pitchFamily="49" charset="0"/>
              </a:rPr>
              <a:t>($n){$n mod 3 </a:t>
            </a:r>
            <a:r>
              <a:rPr lang="en-US" sz="2500" dirty="0" err="1">
                <a:solidFill>
                  <a:srgbClr val="FFC000"/>
                </a:solidFill>
                <a:latin typeface="Consolas" panose="020B0609020204030204" pitchFamily="49" charset="0"/>
              </a:rPr>
              <a:t>eq</a:t>
            </a:r>
            <a:r>
              <a:rPr lang="en-US" sz="2500" dirty="0">
                <a:solidFill>
                  <a:srgbClr val="FFC000"/>
                </a:solidFill>
                <a:latin typeface="Consolas" panose="020B0609020204030204" pitchFamily="49" charset="0"/>
              </a:rPr>
              <a:t> 0}),</a:t>
            </a:r>
          </a:p>
          <a:p>
            <a:pPr marL="68580" indent="0">
              <a:buNone/>
            </a:pPr>
            <a:r>
              <a:rPr lang="en-US" sz="2500" dirty="0">
                <a:solidFill>
                  <a:srgbClr val="FFC000"/>
                </a:solidFill>
                <a:latin typeface="Consolas" panose="020B0609020204030204" pitchFamily="49" charset="0"/>
              </a:rPr>
              <a:t>    </a:t>
            </a:r>
            <a:r>
              <a:rPr lang="en-US" sz="25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$</a:t>
            </a:r>
            <a:r>
              <a:rPr lang="en-US" sz="2500" dirty="0">
                <a:solidFill>
                  <a:srgbClr val="FFC000"/>
                </a:solidFill>
                <a:latin typeface="Consolas" panose="020B0609020204030204" pitchFamily="49" charset="0"/>
              </a:rPr>
              <a:t>gn3 := $gen2ToInf =&gt; </a:t>
            </a:r>
            <a:r>
              <a:rPr lang="en-US" sz="2500" dirty="0" err="1">
                <a:solidFill>
                  <a:srgbClr val="FFC000"/>
                </a:solidFill>
                <a:latin typeface="Consolas" panose="020B0609020204030204" pitchFamily="49" charset="0"/>
              </a:rPr>
              <a:t>gn:filter</a:t>
            </a:r>
            <a:r>
              <a:rPr lang="en-US" sz="2500" dirty="0">
                <a:solidFill>
                  <a:srgbClr val="FFC000"/>
                </a:solidFill>
                <a:latin typeface="Consolas" panose="020B0609020204030204" pitchFamily="49" charset="0"/>
              </a:rPr>
              <a:t>(</a:t>
            </a:r>
            <a:r>
              <a:rPr lang="en-US" sz="2500" dirty="0" err="1">
                <a:solidFill>
                  <a:srgbClr val="FFC000"/>
                </a:solidFill>
                <a:latin typeface="Consolas" panose="020B0609020204030204" pitchFamily="49" charset="0"/>
              </a:rPr>
              <a:t>fn</a:t>
            </a:r>
            <a:r>
              <a:rPr lang="en-US" sz="2500" dirty="0">
                <a:solidFill>
                  <a:srgbClr val="FFC000"/>
                </a:solidFill>
                <a:latin typeface="Consolas" panose="020B0609020204030204" pitchFamily="49" charset="0"/>
              </a:rPr>
              <a:t>($n){$n mod 5 </a:t>
            </a:r>
            <a:r>
              <a:rPr lang="en-US" sz="2500" dirty="0" err="1">
                <a:solidFill>
                  <a:srgbClr val="FFC000"/>
                </a:solidFill>
                <a:latin typeface="Consolas" panose="020B0609020204030204" pitchFamily="49" charset="0"/>
              </a:rPr>
              <a:t>eq</a:t>
            </a:r>
            <a:r>
              <a:rPr lang="en-US" sz="2500" dirty="0">
                <a:solidFill>
                  <a:srgbClr val="FFC000"/>
                </a:solidFill>
                <a:latin typeface="Consolas" panose="020B0609020204030204" pitchFamily="49" charset="0"/>
              </a:rPr>
              <a:t> 0}),</a:t>
            </a:r>
          </a:p>
          <a:p>
            <a:pPr marL="68580" indent="0">
              <a:buNone/>
            </a:pPr>
            <a:r>
              <a:rPr lang="en-US" sz="2500" dirty="0">
                <a:solidFill>
                  <a:srgbClr val="FFC000"/>
                </a:solidFill>
                <a:latin typeface="Consolas" panose="020B0609020204030204" pitchFamily="49" charset="0"/>
              </a:rPr>
              <a:t>   </a:t>
            </a:r>
            <a:r>
              <a:rPr lang="en-US" sz="25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500" dirty="0">
                <a:solidFill>
                  <a:srgbClr val="FFC000"/>
                </a:solidFill>
                <a:latin typeface="Consolas" panose="020B0609020204030204" pitchFamily="49" charset="0"/>
              </a:rPr>
              <a:t>$</a:t>
            </a:r>
            <a:r>
              <a:rPr lang="en-US" sz="2500" dirty="0" err="1">
                <a:solidFill>
                  <a:srgbClr val="FFC000"/>
                </a:solidFill>
                <a:latin typeface="Consolas" panose="020B0609020204030204" pitchFamily="49" charset="0"/>
              </a:rPr>
              <a:t>genOfGens</a:t>
            </a:r>
            <a:r>
              <a:rPr lang="en-US" sz="2500" dirty="0">
                <a:solidFill>
                  <a:srgbClr val="FFC000"/>
                </a:solidFill>
                <a:latin typeface="Consolas" panose="020B0609020204030204" pitchFamily="49" charset="0"/>
              </a:rPr>
              <a:t> := </a:t>
            </a:r>
            <a:r>
              <a:rPr lang="en-US" sz="2500" dirty="0" err="1">
                <a:solidFill>
                  <a:srgbClr val="FFC000"/>
                </a:solidFill>
                <a:latin typeface="Consolas" panose="020B0609020204030204" pitchFamily="49" charset="0"/>
              </a:rPr>
              <a:t>gn:make-generator-from-array</a:t>
            </a:r>
            <a:r>
              <a:rPr lang="en-US" sz="2500" dirty="0">
                <a:solidFill>
                  <a:srgbClr val="FFC000"/>
                </a:solidFill>
                <a:latin typeface="Consolas" panose="020B0609020204030204" pitchFamily="49" charset="0"/>
              </a:rPr>
              <a:t>([$gn1, $gn2, $gn3])</a:t>
            </a:r>
          </a:p>
          <a:p>
            <a:pPr marL="68580" indent="0">
              <a:buNone/>
            </a:pPr>
            <a:r>
              <a:rPr lang="en-US" sz="25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5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500" dirty="0">
                <a:solidFill>
                  <a:srgbClr val="FFC000"/>
                </a:solidFill>
                <a:latin typeface="Consolas" panose="020B0609020204030204" pitchFamily="49" charset="0"/>
              </a:rPr>
              <a:t>return</a:t>
            </a:r>
          </a:p>
          <a:p>
            <a:pPr marL="68580" indent="0">
              <a:buNone/>
            </a:pPr>
            <a:r>
              <a:rPr lang="en-US" sz="2500" dirty="0">
                <a:solidFill>
                  <a:srgbClr val="FFC000"/>
                </a:solidFill>
                <a:latin typeface="Consolas" panose="020B0609020204030204" pitchFamily="49" charset="0"/>
              </a:rPr>
              <a:t>  </a:t>
            </a:r>
            <a:r>
              <a:rPr lang="en-US" sz="25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 </a:t>
            </a:r>
            <a:r>
              <a:rPr lang="en-US" sz="2500" dirty="0" err="1">
                <a:solidFill>
                  <a:srgbClr val="FFC000"/>
                </a:solidFill>
                <a:latin typeface="Consolas" panose="020B0609020204030204" pitchFamily="49" charset="0"/>
              </a:rPr>
              <a:t>gn:merge-sorted-generators</a:t>
            </a:r>
            <a:r>
              <a:rPr lang="en-US" sz="2500" dirty="0">
                <a:solidFill>
                  <a:srgbClr val="FFC000"/>
                </a:solidFill>
                <a:latin typeface="Consolas" panose="020B0609020204030204" pitchFamily="49" charset="0"/>
              </a:rPr>
              <a:t>($</a:t>
            </a:r>
            <a:r>
              <a:rPr lang="en-US" sz="2500" dirty="0" err="1">
                <a:solidFill>
                  <a:srgbClr val="FFC000"/>
                </a:solidFill>
                <a:latin typeface="Consolas" panose="020B0609020204030204" pitchFamily="49" charset="0"/>
              </a:rPr>
              <a:t>genOfGens</a:t>
            </a:r>
            <a:r>
              <a:rPr lang="en-US" sz="2500" dirty="0">
                <a:solidFill>
                  <a:srgbClr val="FFC000"/>
                </a:solidFill>
                <a:latin typeface="Consolas" panose="020B0609020204030204" pitchFamily="49" charset="0"/>
              </a:rPr>
              <a:t>) </a:t>
            </a:r>
            <a:endParaRPr lang="en-US" sz="2500" dirty="0" smtClean="0">
              <a:solidFill>
                <a:srgbClr val="FFC000"/>
              </a:solidFill>
              <a:latin typeface="Consolas" panose="020B0609020204030204" pitchFamily="49" charset="0"/>
            </a:endParaRPr>
          </a:p>
          <a:p>
            <a:pPr marL="68580" indent="0">
              <a:buNone/>
            </a:pPr>
            <a:r>
              <a:rPr lang="en-US" sz="2500" dirty="0">
                <a:solidFill>
                  <a:srgbClr val="FFC000"/>
                </a:solidFill>
                <a:latin typeface="Consolas" panose="020B0609020204030204" pitchFamily="49" charset="0"/>
              </a:rPr>
              <a:t> </a:t>
            </a:r>
            <a:r>
              <a:rPr lang="en-US" sz="25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                  =&gt; </a:t>
            </a:r>
            <a:r>
              <a:rPr lang="en-US" sz="2500" dirty="0" err="1">
                <a:solidFill>
                  <a:srgbClr val="FFC000"/>
                </a:solidFill>
                <a:latin typeface="Consolas" panose="020B0609020204030204" pitchFamily="49" charset="0"/>
              </a:rPr>
              <a:t>gn:subrange</a:t>
            </a:r>
            <a:r>
              <a:rPr lang="en-US" sz="2500" dirty="0">
                <a:solidFill>
                  <a:srgbClr val="FFC000"/>
                </a:solidFill>
                <a:latin typeface="Consolas" panose="020B0609020204030204" pitchFamily="49" charset="0"/>
              </a:rPr>
              <a:t>(1, 40) =&gt; </a:t>
            </a:r>
            <a:r>
              <a:rPr lang="en-US" sz="2500" dirty="0" err="1">
                <a:solidFill>
                  <a:srgbClr val="FFC000"/>
                </a:solidFill>
                <a:latin typeface="Consolas" panose="020B0609020204030204" pitchFamily="49" charset="0"/>
              </a:rPr>
              <a:t>gn:to-array</a:t>
            </a:r>
            <a:r>
              <a:rPr lang="en-US" sz="2500" dirty="0" smtClean="0">
                <a:solidFill>
                  <a:srgbClr val="FFC000"/>
                </a:solidFill>
                <a:latin typeface="Consolas" panose="020B0609020204030204" pitchFamily="49" charset="0"/>
              </a:rPr>
              <a:t>()</a:t>
            </a:r>
          </a:p>
          <a:p>
            <a:pPr marL="68580" indent="0">
              <a:buNone/>
            </a:pPr>
            <a:endParaRPr lang="en-US" sz="2500" dirty="0">
              <a:solidFill>
                <a:srgbClr val="FFC000"/>
              </a:solidFill>
              <a:latin typeface="Consolas" panose="020B0609020204030204" pitchFamily="49" charset="0"/>
            </a:endParaRPr>
          </a:p>
          <a:p>
            <a:pPr marL="68580" indent="0">
              <a:buNone/>
            </a:pPr>
            <a:r>
              <a:rPr lang="en-US" sz="2800" dirty="0">
                <a:solidFill>
                  <a:srgbClr val="FFC000"/>
                </a:solidFill>
                <a:latin typeface="Consolas" panose="020B0609020204030204" pitchFamily="49" charset="0"/>
              </a:rPr>
              <a:t>[</a:t>
            </a:r>
            <a:r>
              <a:rPr lang="en-US" sz="28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2,3,4,5,6,6,8,9,10,10,12,12,14,15,15,16,18,18,20,20,21,22</a:t>
            </a:r>
            <a:r>
              <a:rPr lang="en-US" sz="2800" dirty="0" smtClean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br>
              <a:rPr lang="en-US" sz="2800" dirty="0" smtClean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</a:br>
            <a:r>
              <a:rPr lang="en-US" sz="2800" dirty="0" smtClean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24,24,25,26,27,28,30,30,30,32,33,34,35,36,36,38,39,40</a:t>
            </a:r>
            <a:r>
              <a:rPr lang="en-US" sz="2800" dirty="0">
                <a:solidFill>
                  <a:srgbClr val="FFC000"/>
                </a:solidFill>
                <a:latin typeface="Consolas" panose="020B0609020204030204" pitchFamily="49" charset="0"/>
              </a:rPr>
              <a:t>]</a:t>
            </a:r>
            <a:endParaRPr lang="en-US" sz="2500" dirty="0">
              <a:solidFill>
                <a:srgbClr val="FFC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90016" y="485436"/>
            <a:ext cx="9729216" cy="136550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90016" y="1882698"/>
            <a:ext cx="10899648" cy="40009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90016" y="2685768"/>
            <a:ext cx="9363456" cy="92082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378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5462971"/>
              </p:ext>
            </p:extLst>
          </p:nvPr>
        </p:nvGraphicFramePr>
        <p:xfrm>
          <a:off x="5405377" y="810414"/>
          <a:ext cx="6551271" cy="2245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51271"/>
              </a:tblGrid>
              <a:tr h="40874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601687">
                <a:tc>
                  <a:txBody>
                    <a:bodyPr/>
                    <a:lstStyle/>
                    <a:p>
                      <a:r>
                        <a:rPr kumimoji="0" lang="en-US" sz="2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generator: </a:t>
                      </a:r>
                      <a:r>
                        <a:rPr kumimoji="0" lang="en-US" sz="24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 most one yield value</a:t>
                      </a:r>
                      <a:endParaRPr lang="en-US" sz="2400" b="1" dirty="0"/>
                    </a:p>
                  </a:txBody>
                  <a:tcPr/>
                </a:tc>
              </a:tr>
              <a:tr h="594742">
                <a:tc>
                  <a:txBody>
                    <a:bodyPr/>
                    <a:lstStyle/>
                    <a:p>
                      <a:r>
                        <a:rPr kumimoji="0" lang="en-US" sz="2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Yield: </a:t>
                      </a:r>
                      <a:r>
                        <a:rPr kumimoji="0" lang="en-US" sz="24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 computed</a:t>
                      </a:r>
                      <a:r>
                        <a:rPr kumimoji="0" lang="en-US" sz="2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US" sz="24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 in memory</a:t>
                      </a:r>
                      <a:endParaRPr lang="en-US" sz="2400" b="1" dirty="0"/>
                    </a:p>
                  </a:txBody>
                  <a:tcPr/>
                </a:tc>
              </a:tr>
              <a:tr h="621438">
                <a:tc>
                  <a:txBody>
                    <a:bodyPr/>
                    <a:lstStyle/>
                    <a:p>
                      <a:r>
                        <a:rPr kumimoji="0" lang="en-US" sz="2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Computation of next values is </a:t>
                      </a:r>
                      <a:r>
                        <a:rPr kumimoji="0" lang="en-US" sz="3600" b="1" kern="120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deferred</a:t>
                      </a:r>
                      <a:endParaRPr lang="en-US" sz="3600" b="1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1719209"/>
              </p:ext>
            </p:extLst>
          </p:nvPr>
        </p:nvGraphicFramePr>
        <p:xfrm>
          <a:off x="370390" y="829056"/>
          <a:ext cx="5034987" cy="22266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34987"/>
              </a:tblGrid>
              <a:tr h="43799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526984">
                <a:tc>
                  <a:txBody>
                    <a:bodyPr/>
                    <a:lstStyle/>
                    <a:p>
                      <a:r>
                        <a:rPr kumimoji="0" lang="en-US" sz="24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Sequence-oriented</a:t>
                      </a:r>
                      <a:r>
                        <a:rPr kumimoji="0" lang="en-US" sz="2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evaluation</a:t>
                      </a:r>
                      <a:endParaRPr lang="en-US" sz="2400" dirty="0"/>
                    </a:p>
                  </a:txBody>
                  <a:tcPr/>
                </a:tc>
              </a:tr>
              <a:tr h="613459">
                <a:tc>
                  <a:txBody>
                    <a:bodyPr/>
                    <a:lstStyle/>
                    <a:p>
                      <a:r>
                        <a:rPr kumimoji="0" lang="en-US" sz="24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Eager</a:t>
                      </a:r>
                      <a:r>
                        <a:rPr kumimoji="0" lang="en-US" sz="2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evaluation</a:t>
                      </a:r>
                      <a:endParaRPr lang="en-US" sz="2400" dirty="0"/>
                    </a:p>
                  </a:txBody>
                  <a:tcPr/>
                </a:tc>
              </a:tr>
              <a:tr h="648182">
                <a:tc>
                  <a:txBody>
                    <a:bodyPr/>
                    <a:lstStyle/>
                    <a:p>
                      <a:r>
                        <a:rPr kumimoji="0" lang="en-US" sz="24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Materializes</a:t>
                      </a:r>
                      <a:r>
                        <a:rPr kumimoji="0" lang="en-US" sz="2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24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complete sequences</a:t>
                      </a:r>
                      <a:endParaRPr lang="en-US" sz="2400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0"/>
            <a:ext cx="10363200" cy="829056"/>
          </a:xfrm>
        </p:spPr>
        <p:txBody>
          <a:bodyPr/>
          <a:lstStyle/>
          <a:p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Deferred Evaluation  </a:t>
            </a:r>
            <a:r>
              <a:rPr lang="en-US" dirty="0" smtClean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Programming Style</a:t>
            </a:r>
            <a:endParaRPr lang="en-US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986599"/>
              </p:ext>
            </p:extLst>
          </p:nvPr>
        </p:nvGraphicFramePr>
        <p:xfrm>
          <a:off x="370390" y="829056"/>
          <a:ext cx="11586258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6562"/>
                <a:gridCol w="6539696"/>
              </a:tblGrid>
              <a:tr h="373090">
                <a:tc>
                  <a:txBody>
                    <a:bodyPr/>
                    <a:lstStyle/>
                    <a:p>
                      <a:r>
                        <a:rPr kumimoji="0" lang="en-US" sz="20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Traditional XPath expression evaluation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20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Generator expressions</a:t>
                      </a:r>
                      <a:endParaRPr lang="en-US" sz="2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70389" y="3074313"/>
            <a:ext cx="11586259" cy="3693319"/>
          </a:xfrm>
          <a:prstGeom prst="rect">
            <a:avLst/>
          </a:prstGeom>
          <a:solidFill>
            <a:schemeClr val="tx2">
              <a:lumMod val="2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Demand-driven Computation</a:t>
            </a:r>
            <a:r>
              <a:rPr lang="en-US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/>
            </a:r>
            <a:br>
              <a:rPr lang="en-US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</a:br>
            <a:endParaRPr lang="en-US" dirty="0" smtClean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 algn="ctr"/>
            <a:r>
              <a:rPr lang="en-US" sz="2400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Separation of Description from Execution</a:t>
            </a:r>
            <a:r>
              <a:rPr lang="en-US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/>
            </a:r>
            <a:br>
              <a:rPr lang="en-US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</a:br>
            <a:endParaRPr lang="en-US" dirty="0" smtClean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 algn="ctr"/>
            <a:r>
              <a:rPr lang="en-US" sz="2400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Controlled Evaluation, Early Termination</a:t>
            </a:r>
          </a:p>
          <a:p>
            <a:pPr algn="ctr"/>
            <a:r>
              <a:rPr lang="en-US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/>
            </a:r>
            <a:br>
              <a:rPr lang="en-US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</a:br>
            <a:r>
              <a:rPr lang="en-US" sz="2400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Deferred Evaluation  </a:t>
            </a:r>
            <a:r>
              <a:rPr lang="en-US" sz="2400" b="1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≠</a:t>
            </a:r>
            <a:r>
              <a:rPr lang="en-US" sz="2400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  Recursion</a:t>
            </a:r>
            <a:r>
              <a:rPr lang="en-US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/>
            </a:r>
            <a:br>
              <a:rPr lang="en-US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</a:br>
            <a:endParaRPr lang="en-US" dirty="0" smtClean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 algn="ctr"/>
            <a:r>
              <a:rPr lang="en-US" sz="2400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Minimal State. Memory Efficiency</a:t>
            </a:r>
            <a:r>
              <a:rPr lang="en-US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.</a:t>
            </a:r>
            <a:br>
              <a:rPr lang="en-US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</a:br>
            <a:endParaRPr lang="en-US" dirty="0" smtClean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 algn="ctr"/>
            <a:r>
              <a:rPr lang="en-US" sz="2400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Composability of deferred computations</a:t>
            </a:r>
            <a:endParaRPr lang="en-US" sz="24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8815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506" y="219919"/>
            <a:ext cx="11370197" cy="914400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A real-world </a:t>
            </a:r>
            <a:r>
              <a:rPr lang="en-US" b="1" dirty="0"/>
              <a:t>Use-Case</a:t>
            </a:r>
            <a:r>
              <a:rPr lang="en-US" dirty="0">
                <a:solidFill>
                  <a:srgbClr val="FFC000"/>
                </a:solidFill>
              </a:rPr>
              <a:t>: a </a:t>
            </a:r>
            <a:r>
              <a:rPr lang="en-US" b="1" dirty="0"/>
              <a:t>News-Feeds Aggregator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0506" y="1262699"/>
            <a:ext cx="11125200" cy="5890455"/>
          </a:xfrm>
        </p:spPr>
        <p:txBody>
          <a:bodyPr/>
          <a:lstStyle/>
          <a:p>
            <a:pPr marL="68580" indent="0">
              <a:buNone/>
            </a:pP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The Problem</a:t>
            </a:r>
            <a:r>
              <a:rPr lang="en-US" dirty="0" smtClean="0"/>
              <a:t>: </a:t>
            </a:r>
          </a:p>
          <a:p>
            <a:pPr marL="582930" indent="-514350">
              <a:buFont typeface="+mj-lt"/>
              <a:buAutoNum type="arabicPeriod"/>
            </a:pPr>
            <a:r>
              <a:rPr lang="en-US" dirty="0" smtClean="0">
                <a:solidFill>
                  <a:schemeClr val="tx1">
                    <a:lumMod val="85000"/>
                  </a:schemeClr>
                </a:solidFill>
              </a:rPr>
              <a:t>Aggregate multiple (RSS, Atom, JSON-LD) newsfeeds into a single, unified stream of entries.</a:t>
            </a:r>
          </a:p>
          <a:p>
            <a:pPr marL="582930" indent="-514350">
              <a:buFont typeface="+mj-lt"/>
              <a:buAutoNum type="arabicPeriod"/>
            </a:pPr>
            <a:r>
              <a:rPr lang="en-US" dirty="0" smtClean="0">
                <a:solidFill>
                  <a:schemeClr val="tx1">
                    <a:lumMod val="85000"/>
                  </a:schemeClr>
                </a:solidFill>
              </a:rPr>
              <a:t>Each feed may contain big number of entries, ordered from newest to oldest.</a:t>
            </a:r>
          </a:p>
          <a:p>
            <a:pPr marL="582930" indent="-514350">
              <a:buFont typeface="+mj-lt"/>
              <a:buAutoNum type="arabicPeriod"/>
            </a:pPr>
            <a:r>
              <a:rPr lang="en-US" dirty="0" smtClean="0">
                <a:solidFill>
                  <a:schemeClr val="tx1">
                    <a:lumMod val="85000"/>
                  </a:schemeClr>
                </a:solidFill>
              </a:rPr>
              <a:t>Each feed is updated independently</a:t>
            </a:r>
          </a:p>
          <a:p>
            <a:pPr marL="582930" indent="-514350">
              <a:buFont typeface="+mj-lt"/>
              <a:buAutoNum type="arabicPeriod"/>
            </a:pPr>
            <a:r>
              <a:rPr lang="en-US" dirty="0" smtClean="0">
                <a:solidFill>
                  <a:schemeClr val="tx1">
                    <a:lumMod val="85000"/>
                  </a:schemeClr>
                </a:solidFill>
              </a:rPr>
              <a:t>Present the most recent entries across all feeds:</a:t>
            </a:r>
          </a:p>
          <a:p>
            <a:pPr lvl="1"/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f</a:t>
            </a:r>
            <a:r>
              <a:rPr lang="en-US" dirty="0" smtClean="0">
                <a:solidFill>
                  <a:schemeClr val="tx1">
                    <a:lumMod val="85000"/>
                  </a:schemeClr>
                </a:solidFill>
              </a:rPr>
              <a:t>iltered by relevance</a:t>
            </a:r>
          </a:p>
          <a:p>
            <a:pPr lvl="1"/>
            <a:r>
              <a:rPr lang="en-US" dirty="0" smtClean="0">
                <a:solidFill>
                  <a:schemeClr val="tx1">
                    <a:lumMod val="85000"/>
                  </a:schemeClr>
                </a:solidFill>
              </a:rPr>
              <a:t>Limited, fixed number of results</a:t>
            </a:r>
            <a:endParaRPr lang="en-US" dirty="0">
              <a:solidFill>
                <a:schemeClr val="tx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6495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0"/>
            <a:ext cx="10363200" cy="729205"/>
          </a:xfrm>
        </p:spPr>
        <p:txBody>
          <a:bodyPr/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News-Feeds </a:t>
            </a:r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Aggregator </a:t>
            </a:r>
            <a:r>
              <a:rPr lang="en-US" b="1" dirty="0" smtClean="0"/>
              <a:t>- 2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033" y="846011"/>
            <a:ext cx="11273742" cy="4572000"/>
          </a:xfrm>
        </p:spPr>
        <p:txBody>
          <a:bodyPr>
            <a:normAutofit fontScale="92500" lnSpcReduction="20000"/>
          </a:bodyPr>
          <a:lstStyle/>
          <a:p>
            <a:pPr marL="68580" indent="0">
              <a:buNone/>
            </a:pPr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Challenges</a:t>
            </a:r>
            <a:r>
              <a:rPr lang="en-US" dirty="0" smtClean="0"/>
              <a:t>:</a:t>
            </a:r>
          </a:p>
          <a:p>
            <a:r>
              <a:rPr lang="en-US" b="1" dirty="0" smtClean="0">
                <a:solidFill>
                  <a:srgbClr val="FFC000"/>
                </a:solidFill>
              </a:rPr>
              <a:t>Large</a:t>
            </a:r>
            <a:r>
              <a:rPr lang="en-US" dirty="0" smtClean="0">
                <a:solidFill>
                  <a:srgbClr val="FFC000"/>
                </a:solidFill>
              </a:rPr>
              <a:t>, </a:t>
            </a:r>
            <a:r>
              <a:rPr lang="en-US" b="1" dirty="0" smtClean="0">
                <a:solidFill>
                  <a:srgbClr val="FFC000"/>
                </a:solidFill>
              </a:rPr>
              <a:t>unbounded</a:t>
            </a:r>
            <a:r>
              <a:rPr lang="en-US" dirty="0" smtClean="0">
                <a:solidFill>
                  <a:srgbClr val="FFC000"/>
                </a:solidFill>
              </a:rPr>
              <a:t> </a:t>
            </a:r>
            <a:r>
              <a:rPr lang="en-US" dirty="0" smtClean="0">
                <a:solidFill>
                  <a:schemeClr val="tx1">
                    <a:lumMod val="75000"/>
                  </a:schemeClr>
                </a:solidFill>
              </a:rPr>
              <a:t>feeds</a:t>
            </a:r>
          </a:p>
          <a:p>
            <a:r>
              <a:rPr lang="en-US" dirty="0" smtClean="0">
                <a:solidFill>
                  <a:schemeClr val="tx1">
                    <a:lumMod val="75000"/>
                  </a:schemeClr>
                </a:solidFill>
              </a:rPr>
              <a:t>Feed access may require </a:t>
            </a:r>
            <a:r>
              <a:rPr lang="en-US" b="1" dirty="0" smtClean="0">
                <a:solidFill>
                  <a:srgbClr val="FFC000"/>
                </a:solidFill>
              </a:rPr>
              <a:t>external communication </a:t>
            </a:r>
            <a:r>
              <a:rPr lang="en-US" dirty="0" smtClean="0">
                <a:solidFill>
                  <a:schemeClr val="tx1">
                    <a:lumMod val="75000"/>
                  </a:schemeClr>
                </a:solidFill>
              </a:rPr>
              <a:t>(HTTP, …)</a:t>
            </a:r>
          </a:p>
          <a:p>
            <a:r>
              <a:rPr lang="en-US" dirty="0" smtClean="0">
                <a:solidFill>
                  <a:schemeClr val="tx1">
                    <a:lumMod val="75000"/>
                  </a:schemeClr>
                </a:solidFill>
              </a:rPr>
              <a:t>The combined result must be </a:t>
            </a:r>
            <a:r>
              <a:rPr lang="en-US" b="1" dirty="0" smtClean="0">
                <a:solidFill>
                  <a:srgbClr val="FFC000"/>
                </a:solidFill>
              </a:rPr>
              <a:t>ordered</a:t>
            </a:r>
            <a:r>
              <a:rPr lang="en-US" dirty="0" smtClean="0">
                <a:solidFill>
                  <a:srgbClr val="FFC000"/>
                </a:solidFill>
              </a:rPr>
              <a:t> </a:t>
            </a:r>
            <a:r>
              <a:rPr lang="en-US" dirty="0" smtClean="0">
                <a:solidFill>
                  <a:schemeClr val="tx1">
                    <a:lumMod val="75000"/>
                  </a:schemeClr>
                </a:solidFill>
              </a:rPr>
              <a:t>(by time, etc.)</a:t>
            </a:r>
          </a:p>
          <a:p>
            <a:r>
              <a:rPr lang="en-US" b="1" dirty="0" smtClean="0">
                <a:solidFill>
                  <a:srgbClr val="FFC000"/>
                </a:solidFill>
              </a:rPr>
              <a:t>Only a small prefix </a:t>
            </a:r>
            <a:r>
              <a:rPr lang="en-US" dirty="0" smtClean="0">
                <a:solidFill>
                  <a:schemeClr val="tx1">
                    <a:lumMod val="75000"/>
                  </a:schemeClr>
                </a:solidFill>
              </a:rPr>
              <a:t>of the combined result is needed</a:t>
            </a:r>
          </a:p>
          <a:p>
            <a:r>
              <a:rPr lang="en-US" b="1" dirty="0" smtClean="0">
                <a:solidFill>
                  <a:srgbClr val="FFC000"/>
                </a:solidFill>
              </a:rPr>
              <a:t>Early termination</a:t>
            </a:r>
            <a:r>
              <a:rPr lang="en-US" dirty="0" smtClean="0">
                <a:solidFill>
                  <a:schemeClr val="tx1">
                    <a:lumMod val="75000"/>
                  </a:schemeClr>
                </a:solidFill>
              </a:rPr>
              <a:t>: </a:t>
            </a:r>
            <a:r>
              <a:rPr lang="en-US" b="1" dirty="0" smtClean="0">
                <a:solidFill>
                  <a:srgbClr val="FFC000"/>
                </a:solidFill>
              </a:rPr>
              <a:t>essential</a:t>
            </a:r>
            <a:r>
              <a:rPr lang="en-US" dirty="0" smtClean="0">
                <a:solidFill>
                  <a:srgbClr val="FFC000"/>
                </a:solidFill>
              </a:rPr>
              <a:t> </a:t>
            </a:r>
            <a:r>
              <a:rPr lang="en-US" dirty="0" smtClean="0">
                <a:solidFill>
                  <a:schemeClr val="tx1">
                    <a:lumMod val="75000"/>
                  </a:schemeClr>
                </a:solidFill>
              </a:rPr>
              <a:t>to avoid unnecessary data retrieval and processing</a:t>
            </a:r>
          </a:p>
          <a:p>
            <a:pPr marL="68580" indent="0">
              <a:buNone/>
            </a:pP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Typical sequence-based solution</a:t>
            </a:r>
            <a:r>
              <a:rPr lang="en-US" dirty="0" smtClean="0">
                <a:solidFill>
                  <a:schemeClr val="tx1">
                    <a:lumMod val="75000"/>
                  </a:schemeClr>
                </a:solidFill>
              </a:rPr>
              <a:t>: </a:t>
            </a:r>
          </a:p>
          <a:p>
            <a:r>
              <a:rPr lang="en-US" dirty="0" smtClean="0">
                <a:solidFill>
                  <a:schemeClr val="tx1">
                    <a:lumMod val="75000"/>
                  </a:schemeClr>
                </a:solidFill>
              </a:rPr>
              <a:t>all feeds would need to be fully materialized for:</a:t>
            </a:r>
          </a:p>
          <a:p>
            <a:pPr lvl="1"/>
            <a:r>
              <a:rPr lang="en-US" dirty="0" smtClean="0">
                <a:solidFill>
                  <a:schemeClr val="tx1">
                    <a:lumMod val="75000"/>
                  </a:schemeClr>
                </a:solidFill>
              </a:rPr>
              <a:t>merging, sorting, filtering, …</a:t>
            </a:r>
            <a:br>
              <a:rPr lang="en-US" dirty="0" smtClean="0">
                <a:solidFill>
                  <a:schemeClr val="tx1">
                    <a:lumMod val="75000"/>
                  </a:schemeClr>
                </a:solidFill>
              </a:rPr>
            </a:br>
            <a:endParaRPr lang="en-US" dirty="0" smtClean="0">
              <a:solidFill>
                <a:schemeClr val="tx1">
                  <a:lumMod val="75000"/>
                </a:schemeClr>
              </a:solidFill>
            </a:endParaRPr>
          </a:p>
          <a:p>
            <a:pPr marL="68580" indent="0">
              <a:buNone/>
            </a:pPr>
            <a:endParaRPr lang="en-US" dirty="0">
              <a:solidFill>
                <a:schemeClr val="tx1">
                  <a:lumMod val="75000"/>
                </a:schemeClr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817226" y="2129741"/>
            <a:ext cx="6088283" cy="4524315"/>
            <a:chOff x="1817226" y="2129741"/>
            <a:chExt cx="6088283" cy="4524315"/>
          </a:xfrm>
        </p:grpSpPr>
        <p:sp>
          <p:nvSpPr>
            <p:cNvPr id="7" name="Right Arrow 6"/>
            <p:cNvSpPr/>
            <p:nvPr/>
          </p:nvSpPr>
          <p:spPr>
            <a:xfrm rot="10220467">
              <a:off x="3514387" y="4031892"/>
              <a:ext cx="2568997" cy="37548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6261904" y="3657600"/>
              <a:ext cx="1643605" cy="646331"/>
            </a:xfrm>
            <a:prstGeom prst="rect">
              <a:avLst/>
            </a:prstGeom>
            <a:solidFill>
              <a:schemeClr val="tx1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002060"/>
                  </a:solidFill>
                </a:rPr>
                <a:t>Inefficient, Infeasible</a:t>
              </a:r>
              <a:endParaRPr lang="en-US" dirty="0">
                <a:solidFill>
                  <a:srgbClr val="002060"/>
                </a:solidFill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817226" y="2129741"/>
              <a:ext cx="2812648" cy="4524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9600" dirty="0" smtClean="0">
                <a:solidFill>
                  <a:srgbClr val="FF0000"/>
                </a:solidFill>
              </a:endParaRPr>
            </a:p>
            <a:p>
              <a:pPr algn="ctr"/>
              <a:r>
                <a:rPr lang="en-US" sz="9600" dirty="0" smtClean="0">
                  <a:solidFill>
                    <a:srgbClr val="FF0000"/>
                  </a:solidFill>
                </a:rPr>
                <a:t>X</a:t>
              </a:r>
            </a:p>
            <a:p>
              <a:pPr algn="ctr"/>
              <a:endParaRPr lang="en-US" sz="96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3289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News Aggregator: </a:t>
            </a:r>
            <a:r>
              <a:rPr lang="en-US" b="1" dirty="0" smtClean="0">
                <a:solidFill>
                  <a:schemeClr val="accent3">
                    <a:lumMod val="75000"/>
                  </a:schemeClr>
                </a:solidFill>
              </a:rPr>
              <a:t>Generator-based solution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8580" indent="0">
              <a:buNone/>
            </a:pPr>
            <a:r>
              <a:rPr lang="en-US" dirty="0">
                <a:solidFill>
                  <a:srgbClr val="FFC000"/>
                </a:solidFill>
                <a:latin typeface="Consolas" panose="020B0609020204030204" pitchFamily="49" charset="0"/>
              </a:rPr>
              <a:t>$</a:t>
            </a:r>
            <a:r>
              <a:rPr lang="en-US" dirty="0" err="1">
                <a:solidFill>
                  <a:srgbClr val="FFC000"/>
                </a:solidFill>
                <a:latin typeface="Consolas" panose="020B0609020204030204" pitchFamily="49" charset="0"/>
              </a:rPr>
              <a:t>feedLocations</a:t>
            </a:r>
            <a:endParaRPr lang="en-US" dirty="0">
              <a:solidFill>
                <a:srgbClr val="FFC000"/>
              </a:solidFill>
              <a:latin typeface="Consolas" panose="020B0609020204030204" pitchFamily="49" charset="0"/>
            </a:endParaRPr>
          </a:p>
          <a:p>
            <a:pPr marL="68580" indent="0">
              <a:buNone/>
            </a:pPr>
            <a:r>
              <a:rPr lang="en-US" dirty="0">
                <a:solidFill>
                  <a:srgbClr val="FFC000"/>
                </a:solidFill>
                <a:latin typeface="Consolas" panose="020B0609020204030204" pitchFamily="49" charset="0"/>
              </a:rPr>
              <a:t>=&gt; </a:t>
            </a:r>
            <a:r>
              <a:rPr lang="en-US" dirty="0" err="1">
                <a:solidFill>
                  <a:srgbClr val="FFC000"/>
                </a:solidFill>
                <a:latin typeface="Consolas" panose="020B0609020204030204" pitchFamily="49" charset="0"/>
              </a:rPr>
              <a:t>gn:for-each</a:t>
            </a:r>
            <a:r>
              <a:rPr lang="en-US" dirty="0" smtClean="0">
                <a:solidFill>
                  <a:srgbClr val="FFC000"/>
                </a:solidFill>
                <a:latin typeface="Consolas" panose="020B0609020204030204" pitchFamily="49" charset="0"/>
              </a:rPr>
              <a:t>($create-feed</a:t>
            </a:r>
            <a:r>
              <a:rPr lang="en-US" dirty="0">
                <a:solidFill>
                  <a:srgbClr val="FFC000"/>
                </a:solidFill>
                <a:latin typeface="Consolas" panose="020B0609020204030204" pitchFamily="49" charset="0"/>
              </a:rPr>
              <a:t>) </a:t>
            </a:r>
          </a:p>
          <a:p>
            <a:pPr marL="68580" indent="0">
              <a:buNone/>
            </a:pPr>
            <a:r>
              <a:rPr lang="en-US" dirty="0">
                <a:solidFill>
                  <a:srgbClr val="FFC000"/>
                </a:solidFill>
                <a:latin typeface="Consolas" panose="020B0609020204030204" pitchFamily="49" charset="0"/>
              </a:rPr>
              <a:t>=&gt; </a:t>
            </a:r>
            <a:r>
              <a:rPr lang="en-US" dirty="0" err="1">
                <a:solidFill>
                  <a:srgbClr val="FFC000"/>
                </a:solidFill>
                <a:latin typeface="Consolas" panose="020B0609020204030204" pitchFamily="49" charset="0"/>
              </a:rPr>
              <a:t>gn:merge-sorted-generators</a:t>
            </a:r>
            <a:r>
              <a:rPr lang="en-US" dirty="0">
                <a:solidFill>
                  <a:srgbClr val="FFC000"/>
                </a:solidFill>
                <a:latin typeface="Consolas" panose="020B0609020204030204" pitchFamily="49" charset="0"/>
              </a:rPr>
              <a:t>()</a:t>
            </a:r>
          </a:p>
          <a:p>
            <a:pPr marL="68580" indent="0">
              <a:buNone/>
            </a:pPr>
            <a:r>
              <a:rPr lang="en-US" dirty="0">
                <a:solidFill>
                  <a:srgbClr val="FFC000"/>
                </a:solidFill>
                <a:latin typeface="Consolas" panose="020B0609020204030204" pitchFamily="49" charset="0"/>
              </a:rPr>
              <a:t>=&gt; </a:t>
            </a:r>
            <a:r>
              <a:rPr lang="en-US" dirty="0" err="1">
                <a:solidFill>
                  <a:srgbClr val="FFC000"/>
                </a:solidFill>
                <a:latin typeface="Consolas" panose="020B0609020204030204" pitchFamily="49" charset="0"/>
              </a:rPr>
              <a:t>gn:filter</a:t>
            </a:r>
            <a:r>
              <a:rPr lang="en-US" dirty="0">
                <a:solidFill>
                  <a:srgbClr val="FFC000"/>
                </a:solidFill>
                <a:latin typeface="Consolas" panose="020B0609020204030204" pitchFamily="49" charset="0"/>
              </a:rPr>
              <a:t>($is-relevant)</a:t>
            </a:r>
          </a:p>
          <a:p>
            <a:pPr marL="68580" indent="0">
              <a:buNone/>
            </a:pPr>
            <a:r>
              <a:rPr lang="en-US" dirty="0" smtClean="0">
                <a:solidFill>
                  <a:srgbClr val="FFC000"/>
                </a:solidFill>
                <a:latin typeface="Consolas" panose="020B0609020204030204" pitchFamily="49" charset="0"/>
              </a:rPr>
              <a:t>=&gt; </a:t>
            </a:r>
            <a:r>
              <a:rPr lang="en-US" dirty="0" err="1" smtClean="0">
                <a:solidFill>
                  <a:srgbClr val="FFC000"/>
                </a:solidFill>
                <a:latin typeface="Consolas" panose="020B0609020204030204" pitchFamily="49" charset="0"/>
              </a:rPr>
              <a:t>gn:take</a:t>
            </a:r>
            <a:r>
              <a:rPr lang="en-US" dirty="0" smtClean="0">
                <a:solidFill>
                  <a:srgbClr val="FFC000"/>
                </a:solidFill>
                <a:latin typeface="Consolas" panose="020B0609020204030204" pitchFamily="49" charset="0"/>
              </a:rPr>
              <a:t>(20)</a:t>
            </a:r>
          </a:p>
          <a:p>
            <a:pPr marL="68580" indent="0">
              <a:buNone/>
            </a:pPr>
            <a:endParaRPr lang="en-US" dirty="0">
              <a:solidFill>
                <a:srgbClr val="FFC000"/>
              </a:solidFill>
              <a:latin typeface="Consolas" panose="020B0609020204030204" pitchFamily="49" charset="0"/>
            </a:endParaRPr>
          </a:p>
          <a:p>
            <a:pPr marL="68580" indent="0">
              <a:buNone/>
            </a:pPr>
            <a:r>
              <a:rPr lang="en-US" dirty="0">
                <a:solidFill>
                  <a:srgbClr val="FFC000"/>
                </a:solidFill>
                <a:latin typeface="Consolas" panose="020B0609020204030204" pitchFamily="49" charset="0"/>
              </a:rPr>
              <a:t>=&gt; </a:t>
            </a:r>
            <a:r>
              <a:rPr lang="en-US" dirty="0" err="1">
                <a:solidFill>
                  <a:srgbClr val="FFC000"/>
                </a:solidFill>
                <a:latin typeface="Consolas" panose="020B0609020204030204" pitchFamily="49" charset="0"/>
              </a:rPr>
              <a:t>gn:to-array</a:t>
            </a:r>
            <a:r>
              <a:rPr lang="en-US" dirty="0">
                <a:solidFill>
                  <a:srgbClr val="FFC000"/>
                </a:solidFill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31088" y="1783560"/>
            <a:ext cx="3078865" cy="62397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331087" y="1761468"/>
            <a:ext cx="5926239" cy="1213225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31089" y="1746357"/>
            <a:ext cx="6667018" cy="171447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292505" y="1746358"/>
            <a:ext cx="6705601" cy="2270057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292504" y="1761468"/>
            <a:ext cx="6667018" cy="2775808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331088" y="5047356"/>
            <a:ext cx="3391383" cy="578206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8182340" y="2687707"/>
            <a:ext cx="3857257" cy="923330"/>
            <a:chOff x="8182340" y="2687707"/>
            <a:chExt cx="3857257" cy="923330"/>
          </a:xfrm>
        </p:grpSpPr>
        <p:sp>
          <p:nvSpPr>
            <p:cNvPr id="10" name="TextBox 9"/>
            <p:cNvSpPr txBox="1"/>
            <p:nvPr/>
          </p:nvSpPr>
          <p:spPr>
            <a:xfrm>
              <a:off x="8995458" y="2687707"/>
              <a:ext cx="3044139" cy="923330"/>
            </a:xfrm>
            <a:prstGeom prst="rect">
              <a:avLst/>
            </a:prstGeom>
            <a:solidFill>
              <a:schemeClr val="tx1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accent1">
                      <a:lumMod val="50000"/>
                    </a:schemeClr>
                  </a:solidFill>
                </a:rPr>
                <a:t>Incremental Evaluation</a:t>
              </a:r>
            </a:p>
            <a:p>
              <a:r>
                <a:rPr lang="en-US" dirty="0" smtClean="0">
                  <a:solidFill>
                    <a:schemeClr val="accent1">
                      <a:lumMod val="50000"/>
                    </a:schemeClr>
                  </a:solidFill>
                </a:rPr>
                <a:t>Early termination</a:t>
              </a:r>
              <a:br>
                <a:rPr lang="en-US" dirty="0" smtClean="0">
                  <a:solidFill>
                    <a:schemeClr val="accent1">
                      <a:lumMod val="50000"/>
                    </a:schemeClr>
                  </a:solidFill>
                </a:rPr>
              </a:br>
              <a:r>
                <a:rPr lang="en-US" dirty="0" smtClean="0">
                  <a:solidFill>
                    <a:schemeClr val="accent1">
                      <a:lumMod val="50000"/>
                    </a:schemeClr>
                  </a:solidFill>
                </a:rPr>
                <a:t>External Data Providers</a:t>
              </a:r>
              <a:endParaRPr lang="en-US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1" name="Right Arrow 10"/>
            <p:cNvSpPr/>
            <p:nvPr/>
          </p:nvSpPr>
          <p:spPr>
            <a:xfrm rot="10800000">
              <a:off x="8182340" y="2987326"/>
              <a:ext cx="657825" cy="32409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8115785" y="5047356"/>
            <a:ext cx="3044139" cy="984885"/>
          </a:xfrm>
          <a:prstGeom prst="rect">
            <a:avLst/>
          </a:prstGeom>
          <a:solidFill>
            <a:schemeClr val="tx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1">
                    <a:lumMod val="50000"/>
                  </a:schemeClr>
                </a:solidFill>
              </a:rPr>
              <a:t>Improved Efficiency and Scalability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over an eager solution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599" y="1143347"/>
            <a:ext cx="3044139" cy="12003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System Architecture/Action: at a glance.</a:t>
            </a:r>
            <a:b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Abstraction.</a:t>
            </a:r>
            <a:b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Easy to extend.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6628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9" grpId="0" animBg="1"/>
      <p:bldP spid="14" grpId="0" animBg="1"/>
      <p:bldP spid="1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Use-case</a:t>
            </a:r>
            <a:r>
              <a:rPr lang="en-US" dirty="0" smtClean="0"/>
              <a:t> </a:t>
            </a:r>
            <a:r>
              <a:rPr lang="en-US" b="1" dirty="0" smtClean="0"/>
              <a:t>Generalization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8580" indent="0">
              <a:buNone/>
            </a:pPr>
            <a:r>
              <a:rPr lang="en-US" dirty="0" smtClean="0">
                <a:solidFill>
                  <a:schemeClr val="tx1">
                    <a:lumMod val="75000"/>
                  </a:schemeClr>
                </a:solidFill>
              </a:rPr>
              <a:t>The </a:t>
            </a:r>
            <a:r>
              <a:rPr lang="en-US" b="1" dirty="0" smtClean="0">
                <a:solidFill>
                  <a:schemeClr val="tx1">
                    <a:lumMod val="75000"/>
                  </a:schemeClr>
                </a:solidFill>
              </a:rPr>
              <a:t>same solution pattern </a:t>
            </a:r>
            <a:r>
              <a:rPr lang="en-US" dirty="0" smtClean="0">
                <a:solidFill>
                  <a:schemeClr val="tx1">
                    <a:lumMod val="75000"/>
                  </a:schemeClr>
                </a:solidFill>
              </a:rPr>
              <a:t>for processing</a:t>
            </a:r>
            <a:r>
              <a:rPr lang="en-US" dirty="0" smtClean="0"/>
              <a:t>:</a:t>
            </a:r>
          </a:p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Huge XML documents</a:t>
            </a:r>
          </a:p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Large number of XML documents</a:t>
            </a:r>
          </a:p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Merging sorted data from multiple data sources</a:t>
            </a:r>
          </a:p>
          <a:p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Computations over infinite / real-data values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7894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-92598"/>
            <a:ext cx="10363200" cy="914400"/>
          </a:xfrm>
        </p:spPr>
        <p:txBody>
          <a:bodyPr/>
          <a:lstStyle/>
          <a:p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Conclusion</a:t>
            </a:r>
            <a:endParaRPr 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695539"/>
            <a:ext cx="10597662" cy="6064075"/>
          </a:xfrm>
        </p:spPr>
        <p:txBody>
          <a:bodyPr>
            <a:normAutofit fontScale="77500" lnSpcReduction="20000"/>
          </a:bodyPr>
          <a:lstStyle/>
          <a:p>
            <a:pPr marL="68580" indent="0">
              <a:buNone/>
            </a:pPr>
            <a:r>
              <a:rPr lang="en-US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A Generator-based model for Deferred Evaluation in XPath.</a:t>
            </a:r>
          </a:p>
          <a:p>
            <a:pPr marL="68580" indent="0">
              <a:buNone/>
            </a:pPr>
            <a:r>
              <a:rPr lang="en-US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Efficient/uniform processing large/unbounded or externally-provided data collections.</a:t>
            </a:r>
          </a:p>
          <a:p>
            <a:pPr marL="68580" indent="0">
              <a:buNone/>
            </a:pPr>
            <a:r>
              <a:rPr lang="en-US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Based on</a:t>
            </a:r>
            <a:r>
              <a:rPr lang="en-US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: </a:t>
            </a:r>
          </a:p>
          <a:p>
            <a:r>
              <a:rPr lang="en-US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the Generator record</a:t>
            </a:r>
          </a:p>
          <a:p>
            <a:r>
              <a:rPr lang="en-US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Composable library of functions, not requiring full materialization of results</a:t>
            </a:r>
          </a:p>
          <a:p>
            <a:pPr marL="68580" indent="0">
              <a:buNone/>
            </a:pPr>
            <a:r>
              <a:rPr lang="en-US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Programming Style</a:t>
            </a:r>
            <a:r>
              <a:rPr lang="en-US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US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Demand-driven</a:t>
            </a:r>
          </a:p>
          <a:p>
            <a:r>
              <a:rPr lang="en-US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Incremental</a:t>
            </a:r>
          </a:p>
          <a:p>
            <a:r>
              <a:rPr lang="en-US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Memory-sensitive</a:t>
            </a:r>
          </a:p>
          <a:p>
            <a:r>
              <a:rPr lang="en-US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Externally controlled</a:t>
            </a:r>
          </a:p>
          <a:p>
            <a:pPr marL="68580" indent="0">
              <a:buNone/>
            </a:pPr>
            <a:r>
              <a:rPr lang="en-US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Two key contributions</a:t>
            </a:r>
            <a:r>
              <a:rPr lang="en-US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US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Composable</a:t>
            </a:r>
            <a:r>
              <a:rPr lang="en-US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 Generator library</a:t>
            </a:r>
          </a:p>
          <a:p>
            <a:r>
              <a:rPr lang="en-US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Strictly-defined protocol for </a:t>
            </a:r>
            <a:r>
              <a:rPr lang="en-US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external data providers </a:t>
            </a:r>
            <a:r>
              <a:rPr lang="en-US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– seamless integration with web-services, files and databases.</a:t>
            </a:r>
          </a:p>
          <a:p>
            <a:pPr marL="68580" indent="0">
              <a:buNone/>
            </a:pPr>
            <a:r>
              <a:rPr lang="en-US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Implementation independent </a:t>
            </a:r>
            <a:r>
              <a:rPr lang="en-US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– Entirely in XPath, portable, ready to use today.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7257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923687"/>
            <a:ext cx="10363200" cy="4293325"/>
          </a:xfrm>
        </p:spPr>
      </p:pic>
    </p:spTree>
    <p:extLst>
      <p:ext uri="{BB962C8B-B14F-4D97-AF65-F5344CB8AC3E}">
        <p14:creationId xmlns:p14="http://schemas.microsoft.com/office/powerpoint/2010/main" val="2548590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923687"/>
            <a:ext cx="10363200" cy="4293325"/>
          </a:xfrm>
        </p:spPr>
      </p:pic>
    </p:spTree>
    <p:extLst>
      <p:ext uri="{BB962C8B-B14F-4D97-AF65-F5344CB8AC3E}">
        <p14:creationId xmlns:p14="http://schemas.microsoft.com/office/powerpoint/2010/main" val="4163992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5833" y="1784350"/>
            <a:ext cx="7609933" cy="4572000"/>
          </a:xfrm>
        </p:spPr>
      </p:pic>
    </p:spTree>
    <p:extLst>
      <p:ext uri="{BB962C8B-B14F-4D97-AF65-F5344CB8AC3E}">
        <p14:creationId xmlns:p14="http://schemas.microsoft.com/office/powerpoint/2010/main" val="2171390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ightfall design template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5Glossy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ightfall design template" id="{8E782A46-4514-4890-A557-B2C16D284495}" vid="{905231CD-0261-44B0-B7D7-6EDADDAACF34}"/>
    </a:ext>
  </a:extLst>
</a:theme>
</file>

<file path=ppt/theme/theme2.xml><?xml version="1.0" encoding="utf-8"?>
<a:theme xmlns:a="http://schemas.openxmlformats.org/drawingml/2006/main" name="Office Theme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5Glossy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5Glossy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5232C19C-A75B-4E3F-8B30-1035B9FCAD1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Nightfall design slides</Template>
  <TotalTime>0</TotalTime>
  <Words>2096</Words>
  <Application>Microsoft Office PowerPoint</Application>
  <PresentationFormat>Widescreen</PresentationFormat>
  <Paragraphs>440</Paragraphs>
  <Slides>34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 Unicode MS</vt:lpstr>
      <vt:lpstr>Arial</vt:lpstr>
      <vt:lpstr>Consolas</vt:lpstr>
      <vt:lpstr>Wingdings</vt:lpstr>
      <vt:lpstr>Wingdings 2</vt:lpstr>
      <vt:lpstr>Wingdings 3</vt:lpstr>
      <vt:lpstr>Nightfall design template</vt:lpstr>
      <vt:lpstr>  </vt:lpstr>
      <vt:lpstr>The Problem</vt:lpstr>
      <vt:lpstr>The Problem - 2</vt:lpstr>
      <vt:lpstr>The Solution</vt:lpstr>
      <vt:lpstr>The Generator record</vt:lpstr>
      <vt:lpstr>Definitions</vt:lpstr>
      <vt:lpstr>Example</vt:lpstr>
      <vt:lpstr>Example-2</vt:lpstr>
      <vt:lpstr>Functions on Generators</vt:lpstr>
      <vt:lpstr>Functions producing a value: item() or (…)</vt:lpstr>
      <vt:lpstr>Functions producing a Generator</vt:lpstr>
      <vt:lpstr>Functions producing a Generator - 2</vt:lpstr>
      <vt:lpstr>Functions producing a Generator - 3</vt:lpstr>
      <vt:lpstr>Functions producing a generator from a Data-Provider</vt:lpstr>
      <vt:lpstr>Provider Function Contract</vt:lpstr>
      <vt:lpstr>Generators from a Data-Provider</vt:lpstr>
      <vt:lpstr>Functions to Materialize the Complete Yield</vt:lpstr>
      <vt:lpstr>Examples: 1. Auxiliary generators</vt:lpstr>
      <vt:lpstr>Examples: 2. Auxiliary functions</vt:lpstr>
      <vt:lpstr>Examples - 3</vt:lpstr>
      <vt:lpstr>Examples - 5</vt:lpstr>
      <vt:lpstr>Examples - 7</vt:lpstr>
      <vt:lpstr>Examples - 8</vt:lpstr>
      <vt:lpstr>Examples - 9</vt:lpstr>
      <vt:lpstr>Examples - 10</vt:lpstr>
      <vt:lpstr>Deferred Evaluation  Programming Style</vt:lpstr>
      <vt:lpstr>A real-world Use-Case: a News-Feeds Aggregator </vt:lpstr>
      <vt:lpstr>News-Feeds Aggregator - 2</vt:lpstr>
      <vt:lpstr>News Aggregator: Generator-based solution</vt:lpstr>
      <vt:lpstr>Use-case Generalization</vt:lpstr>
      <vt:lpstr>Conclusion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2013-06-29T21:05:20Z</dcterms:created>
  <dcterms:modified xsi:type="dcterms:W3CDTF">2026-08-06T21:53:23Z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TC034605339991</vt:lpwstr>
  </property>
</Properties>
</file>